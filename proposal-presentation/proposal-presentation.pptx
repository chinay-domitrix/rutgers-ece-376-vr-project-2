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2" r:id="rId4"/>
  </p:sldMasterIdLst>
  <p:notesMasterIdLst>
    <p:notesMasterId r:id="rId12"/>
  </p:notesMasterIdLst>
  <p:sldIdLst>
    <p:sldId id="262" r:id="rId5"/>
    <p:sldId id="259" r:id="rId6"/>
    <p:sldId id="260" r:id="rId7"/>
    <p:sldId id="261" r:id="rId8"/>
    <p:sldId id="263" r:id="rId9"/>
    <p:sldId id="264" r:id="rId10"/>
    <p:sldId id="265" r:id="rId11"/>
  </p:sldIdLst>
  <p:sldSz cx="12192000" cy="6858000"/>
  <p:notesSz cx="6858000" cy="9144000"/>
  <p:embeddedFontLst>
    <p:embeddedFont>
      <p:font typeface="Calisto MT" panose="02040603050505030304" pitchFamily="18" charset="0"/>
      <p:regular r:id="rId13"/>
      <p:bold r:id="rId14"/>
      <p:italic r:id="rId15"/>
      <p:boldItalic r:id="rId16"/>
    </p:embeddedFont>
    <p:embeddedFont>
      <p:font typeface="Wingdings 2" panose="05020102010507070707" pitchFamily="18" charset="2"/>
      <p:regular r:id="rId1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594007-6F10-AE49-7307-76918BCEEDAF}" v="92" dt="2026-04-15T16:40:09.529"/>
    <p1510:client id="{5CABC4F1-D085-4C86-A8B6-59499ADE0EC5}" v="286" dt="2026-04-15T16:59:09.5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1" autoAdjust="0"/>
    <p:restoredTop sz="94660"/>
  </p:normalViewPr>
  <p:slideViewPr>
    <p:cSldViewPr snapToGrid="0">
      <p:cViewPr varScale="1">
        <p:scale>
          <a:sx n="125" d="100"/>
          <a:sy n="125" d="100"/>
        </p:scale>
        <p:origin x="101"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068FAB-CD99-4418-B6D1-EA7CE1BDAE58}"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3CEF1936-A859-4DAF-871C-8E0A82DE141F}">
      <dgm:prSet/>
      <dgm:spPr/>
      <dgm:t>
        <a:bodyPr/>
        <a:lstStyle/>
        <a:p>
          <a:r>
            <a:rPr lang="en-US" dirty="0"/>
            <a:t>The player restores a damaged rover before deployment</a:t>
          </a:r>
        </a:p>
      </dgm:t>
    </dgm:pt>
    <dgm:pt modelId="{773BE76C-3358-4B19-99C4-4A48751D7E8E}" type="parTrans" cxnId="{2748D0D0-D628-48DB-BFC7-77B3747A00EB}">
      <dgm:prSet/>
      <dgm:spPr/>
      <dgm:t>
        <a:bodyPr/>
        <a:lstStyle/>
        <a:p>
          <a:endParaRPr lang="en-US"/>
        </a:p>
      </dgm:t>
    </dgm:pt>
    <dgm:pt modelId="{A72C41E3-4B04-42F1-8D2F-BB27D2D7C0AF}" type="sibTrans" cxnId="{2748D0D0-D628-48DB-BFC7-77B3747A00EB}">
      <dgm:prSet/>
      <dgm:spPr/>
      <dgm:t>
        <a:bodyPr/>
        <a:lstStyle/>
        <a:p>
          <a:endParaRPr lang="en-US"/>
        </a:p>
      </dgm:t>
    </dgm:pt>
    <dgm:pt modelId="{1BCA8745-9E29-42E6-B9D2-A4C7EAEEB38B}">
      <dgm:prSet/>
      <dgm:spPr/>
      <dgm:t>
        <a:bodyPr/>
        <a:lstStyle/>
        <a:p>
          <a:r>
            <a:rPr lang="en-US" dirty="0"/>
            <a:t>Main tasks are inserting power modules and repairing damaged parts</a:t>
          </a:r>
        </a:p>
      </dgm:t>
    </dgm:pt>
    <dgm:pt modelId="{6ED0CB3B-68E7-4F41-92AC-45B070CEE3DD}" type="parTrans" cxnId="{4E88A54C-C3C0-41B3-B2BC-15264D242F7B}">
      <dgm:prSet/>
      <dgm:spPr/>
      <dgm:t>
        <a:bodyPr/>
        <a:lstStyle/>
        <a:p>
          <a:endParaRPr lang="en-US"/>
        </a:p>
      </dgm:t>
    </dgm:pt>
    <dgm:pt modelId="{145FD28F-29B2-4627-8521-5B9456BBBB71}" type="sibTrans" cxnId="{4E88A54C-C3C0-41B3-B2BC-15264D242F7B}">
      <dgm:prSet/>
      <dgm:spPr/>
      <dgm:t>
        <a:bodyPr/>
        <a:lstStyle/>
        <a:p>
          <a:endParaRPr lang="en-US"/>
        </a:p>
      </dgm:t>
    </dgm:pt>
    <dgm:pt modelId="{9E91DDEE-125C-4AD6-BC62-8599FA33CDCF}">
      <dgm:prSet/>
      <dgm:spPr/>
      <dgm:t>
        <a:bodyPr/>
        <a:lstStyle/>
        <a:p>
          <a:r>
            <a:rPr lang="en-US" b="0" dirty="0"/>
            <a:t>The player interacts with the rover directly using the controllers</a:t>
          </a:r>
          <a:endParaRPr lang="en-US" dirty="0"/>
        </a:p>
      </dgm:t>
    </dgm:pt>
    <dgm:pt modelId="{44182157-5494-4D91-B6B6-FCC14F658851}" type="parTrans" cxnId="{BBE2FDFF-2866-4A76-9713-98C592ABB459}">
      <dgm:prSet/>
      <dgm:spPr/>
      <dgm:t>
        <a:bodyPr/>
        <a:lstStyle/>
        <a:p>
          <a:endParaRPr lang="en-US"/>
        </a:p>
      </dgm:t>
    </dgm:pt>
    <dgm:pt modelId="{10184C6D-2703-4B72-8887-C9DDA3F7E29D}" type="sibTrans" cxnId="{BBE2FDFF-2866-4A76-9713-98C592ABB459}">
      <dgm:prSet/>
      <dgm:spPr/>
      <dgm:t>
        <a:bodyPr/>
        <a:lstStyle/>
        <a:p>
          <a:endParaRPr lang="en-US"/>
        </a:p>
      </dgm:t>
    </dgm:pt>
    <dgm:pt modelId="{05ED46AC-6B01-4B7C-AD81-D35FCEBAD0A6}" type="pres">
      <dgm:prSet presAssocID="{76068FAB-CD99-4418-B6D1-EA7CE1BDAE58}" presName="vert0" presStyleCnt="0">
        <dgm:presLayoutVars>
          <dgm:dir/>
          <dgm:animOne val="branch"/>
          <dgm:animLvl val="lvl"/>
        </dgm:presLayoutVars>
      </dgm:prSet>
      <dgm:spPr/>
    </dgm:pt>
    <dgm:pt modelId="{14250C99-F28D-41D9-9F48-ADD5EFE4D05C}" type="pres">
      <dgm:prSet presAssocID="{3CEF1936-A859-4DAF-871C-8E0A82DE141F}" presName="thickLine" presStyleLbl="alignNode1" presStyleIdx="0" presStyleCnt="3"/>
      <dgm:spPr/>
    </dgm:pt>
    <dgm:pt modelId="{7BF88629-E317-4C36-B1AC-96FD58874A8C}" type="pres">
      <dgm:prSet presAssocID="{3CEF1936-A859-4DAF-871C-8E0A82DE141F}" presName="horz1" presStyleCnt="0"/>
      <dgm:spPr/>
    </dgm:pt>
    <dgm:pt modelId="{9EF21286-9E28-41F5-8FBC-E07E32B3EB2D}" type="pres">
      <dgm:prSet presAssocID="{3CEF1936-A859-4DAF-871C-8E0A82DE141F}" presName="tx1" presStyleLbl="revTx" presStyleIdx="0" presStyleCnt="3"/>
      <dgm:spPr/>
    </dgm:pt>
    <dgm:pt modelId="{7BD9A3C9-A119-42B9-8ABA-9F827A20046A}" type="pres">
      <dgm:prSet presAssocID="{3CEF1936-A859-4DAF-871C-8E0A82DE141F}" presName="vert1" presStyleCnt="0"/>
      <dgm:spPr/>
    </dgm:pt>
    <dgm:pt modelId="{1FB6CCC5-4DBE-4249-93D8-4F36FDFDB94A}" type="pres">
      <dgm:prSet presAssocID="{1BCA8745-9E29-42E6-B9D2-A4C7EAEEB38B}" presName="thickLine" presStyleLbl="alignNode1" presStyleIdx="1" presStyleCnt="3"/>
      <dgm:spPr/>
    </dgm:pt>
    <dgm:pt modelId="{48D40C6D-0B9A-49C4-B563-15CFA5F035C2}" type="pres">
      <dgm:prSet presAssocID="{1BCA8745-9E29-42E6-B9D2-A4C7EAEEB38B}" presName="horz1" presStyleCnt="0"/>
      <dgm:spPr/>
    </dgm:pt>
    <dgm:pt modelId="{87F047FD-8E5E-48FE-A0F8-4E5ECAB5BF2A}" type="pres">
      <dgm:prSet presAssocID="{1BCA8745-9E29-42E6-B9D2-A4C7EAEEB38B}" presName="tx1" presStyleLbl="revTx" presStyleIdx="1" presStyleCnt="3"/>
      <dgm:spPr/>
    </dgm:pt>
    <dgm:pt modelId="{1963FA97-9D73-4106-89C7-030E9298CD7F}" type="pres">
      <dgm:prSet presAssocID="{1BCA8745-9E29-42E6-B9D2-A4C7EAEEB38B}" presName="vert1" presStyleCnt="0"/>
      <dgm:spPr/>
    </dgm:pt>
    <dgm:pt modelId="{BA3B9777-7F1F-4E6C-99D9-7D0421F1505D}" type="pres">
      <dgm:prSet presAssocID="{9E91DDEE-125C-4AD6-BC62-8599FA33CDCF}" presName="thickLine" presStyleLbl="alignNode1" presStyleIdx="2" presStyleCnt="3"/>
      <dgm:spPr/>
    </dgm:pt>
    <dgm:pt modelId="{E92047FC-F3C0-4A7D-A618-C53EF8481FF5}" type="pres">
      <dgm:prSet presAssocID="{9E91DDEE-125C-4AD6-BC62-8599FA33CDCF}" presName="horz1" presStyleCnt="0"/>
      <dgm:spPr/>
    </dgm:pt>
    <dgm:pt modelId="{4AA1C4A1-41AA-464E-9397-0AEA2290CDAD}" type="pres">
      <dgm:prSet presAssocID="{9E91DDEE-125C-4AD6-BC62-8599FA33CDCF}" presName="tx1" presStyleLbl="revTx" presStyleIdx="2" presStyleCnt="3"/>
      <dgm:spPr/>
    </dgm:pt>
    <dgm:pt modelId="{518DC483-3E84-4005-8E76-C7757C381837}" type="pres">
      <dgm:prSet presAssocID="{9E91DDEE-125C-4AD6-BC62-8599FA33CDCF}" presName="vert1" presStyleCnt="0"/>
      <dgm:spPr/>
    </dgm:pt>
  </dgm:ptLst>
  <dgm:cxnLst>
    <dgm:cxn modelId="{94F1D444-C73E-438C-BABE-82A5FC6AF8A8}" type="presOf" srcId="{1BCA8745-9E29-42E6-B9D2-A4C7EAEEB38B}" destId="{87F047FD-8E5E-48FE-A0F8-4E5ECAB5BF2A}" srcOrd="0" destOrd="0" presId="urn:microsoft.com/office/officeart/2008/layout/LinedList"/>
    <dgm:cxn modelId="{4E88A54C-C3C0-41B3-B2BC-15264D242F7B}" srcId="{76068FAB-CD99-4418-B6D1-EA7CE1BDAE58}" destId="{1BCA8745-9E29-42E6-B9D2-A4C7EAEEB38B}" srcOrd="1" destOrd="0" parTransId="{6ED0CB3B-68E7-4F41-92AC-45B070CEE3DD}" sibTransId="{145FD28F-29B2-4627-8521-5B9456BBBB71}"/>
    <dgm:cxn modelId="{DAF5F881-C435-4E1B-BD0B-CBC5145DD35E}" type="presOf" srcId="{76068FAB-CD99-4418-B6D1-EA7CE1BDAE58}" destId="{05ED46AC-6B01-4B7C-AD81-D35FCEBAD0A6}" srcOrd="0" destOrd="0" presId="urn:microsoft.com/office/officeart/2008/layout/LinedList"/>
    <dgm:cxn modelId="{4569A691-CD27-4F50-9FCF-01867792315C}" type="presOf" srcId="{9E91DDEE-125C-4AD6-BC62-8599FA33CDCF}" destId="{4AA1C4A1-41AA-464E-9397-0AEA2290CDAD}" srcOrd="0" destOrd="0" presId="urn:microsoft.com/office/officeart/2008/layout/LinedList"/>
    <dgm:cxn modelId="{2748D0D0-D628-48DB-BFC7-77B3747A00EB}" srcId="{76068FAB-CD99-4418-B6D1-EA7CE1BDAE58}" destId="{3CEF1936-A859-4DAF-871C-8E0A82DE141F}" srcOrd="0" destOrd="0" parTransId="{773BE76C-3358-4B19-99C4-4A48751D7E8E}" sibTransId="{A72C41E3-4B04-42F1-8D2F-BB27D2D7C0AF}"/>
    <dgm:cxn modelId="{79D21CD2-ACD6-42EE-A9EE-23A943B5E2BB}" type="presOf" srcId="{3CEF1936-A859-4DAF-871C-8E0A82DE141F}" destId="{9EF21286-9E28-41F5-8FBC-E07E32B3EB2D}" srcOrd="0" destOrd="0" presId="urn:microsoft.com/office/officeart/2008/layout/LinedList"/>
    <dgm:cxn modelId="{BBE2FDFF-2866-4A76-9713-98C592ABB459}" srcId="{76068FAB-CD99-4418-B6D1-EA7CE1BDAE58}" destId="{9E91DDEE-125C-4AD6-BC62-8599FA33CDCF}" srcOrd="2" destOrd="0" parTransId="{44182157-5494-4D91-B6B6-FCC14F658851}" sibTransId="{10184C6D-2703-4B72-8887-C9DDA3F7E29D}"/>
    <dgm:cxn modelId="{2EB64194-0C3E-413F-8111-576286FFF2D5}" type="presParOf" srcId="{05ED46AC-6B01-4B7C-AD81-D35FCEBAD0A6}" destId="{14250C99-F28D-41D9-9F48-ADD5EFE4D05C}" srcOrd="0" destOrd="0" presId="urn:microsoft.com/office/officeart/2008/layout/LinedList"/>
    <dgm:cxn modelId="{3B39A153-DBD6-491A-A30E-9DF6BA4A3194}" type="presParOf" srcId="{05ED46AC-6B01-4B7C-AD81-D35FCEBAD0A6}" destId="{7BF88629-E317-4C36-B1AC-96FD58874A8C}" srcOrd="1" destOrd="0" presId="urn:microsoft.com/office/officeart/2008/layout/LinedList"/>
    <dgm:cxn modelId="{BCC6C0E4-D4C4-46A3-97EE-A96ABC0B20F7}" type="presParOf" srcId="{7BF88629-E317-4C36-B1AC-96FD58874A8C}" destId="{9EF21286-9E28-41F5-8FBC-E07E32B3EB2D}" srcOrd="0" destOrd="0" presId="urn:microsoft.com/office/officeart/2008/layout/LinedList"/>
    <dgm:cxn modelId="{994FADE9-AB35-459D-813A-0B7234329A81}" type="presParOf" srcId="{7BF88629-E317-4C36-B1AC-96FD58874A8C}" destId="{7BD9A3C9-A119-42B9-8ABA-9F827A20046A}" srcOrd="1" destOrd="0" presId="urn:microsoft.com/office/officeart/2008/layout/LinedList"/>
    <dgm:cxn modelId="{5628546F-AA1C-4790-8CC9-4F92460D3CB8}" type="presParOf" srcId="{05ED46AC-6B01-4B7C-AD81-D35FCEBAD0A6}" destId="{1FB6CCC5-4DBE-4249-93D8-4F36FDFDB94A}" srcOrd="2" destOrd="0" presId="urn:microsoft.com/office/officeart/2008/layout/LinedList"/>
    <dgm:cxn modelId="{00408E46-7C4D-46D8-A5E0-9C06292975C9}" type="presParOf" srcId="{05ED46AC-6B01-4B7C-AD81-D35FCEBAD0A6}" destId="{48D40C6D-0B9A-49C4-B563-15CFA5F035C2}" srcOrd="3" destOrd="0" presId="urn:microsoft.com/office/officeart/2008/layout/LinedList"/>
    <dgm:cxn modelId="{36B567D9-3721-4140-9A9A-939C9310C289}" type="presParOf" srcId="{48D40C6D-0B9A-49C4-B563-15CFA5F035C2}" destId="{87F047FD-8E5E-48FE-A0F8-4E5ECAB5BF2A}" srcOrd="0" destOrd="0" presId="urn:microsoft.com/office/officeart/2008/layout/LinedList"/>
    <dgm:cxn modelId="{79814D78-BDAA-4B7C-990A-D4C764BC22E1}" type="presParOf" srcId="{48D40C6D-0B9A-49C4-B563-15CFA5F035C2}" destId="{1963FA97-9D73-4106-89C7-030E9298CD7F}" srcOrd="1" destOrd="0" presId="urn:microsoft.com/office/officeart/2008/layout/LinedList"/>
    <dgm:cxn modelId="{DB6435BA-2667-4915-8204-DC641D3E2DB0}" type="presParOf" srcId="{05ED46AC-6B01-4B7C-AD81-D35FCEBAD0A6}" destId="{BA3B9777-7F1F-4E6C-99D9-7D0421F1505D}" srcOrd="4" destOrd="0" presId="urn:microsoft.com/office/officeart/2008/layout/LinedList"/>
    <dgm:cxn modelId="{7C5559E3-2262-4100-9138-DE43B9F3AEC1}" type="presParOf" srcId="{05ED46AC-6B01-4B7C-AD81-D35FCEBAD0A6}" destId="{E92047FC-F3C0-4A7D-A618-C53EF8481FF5}" srcOrd="5" destOrd="0" presId="urn:microsoft.com/office/officeart/2008/layout/LinedList"/>
    <dgm:cxn modelId="{1615DDE5-6386-4773-A58F-1BE56B280B8B}" type="presParOf" srcId="{E92047FC-F3C0-4A7D-A618-C53EF8481FF5}" destId="{4AA1C4A1-41AA-464E-9397-0AEA2290CDAD}" srcOrd="0" destOrd="0" presId="urn:microsoft.com/office/officeart/2008/layout/LinedList"/>
    <dgm:cxn modelId="{5BB39100-2FD4-471C-8EAE-95D560BF1FD3}" type="presParOf" srcId="{E92047FC-F3C0-4A7D-A618-C53EF8481FF5}" destId="{518DC483-3E84-4005-8E76-C7757C381837}"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62CABD-708E-456F-9A33-54F121AC3FA5}"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4F3AFE1C-634B-494A-B87C-2318D1EAFC4E}">
      <dgm:prSet/>
      <dgm:spPr/>
      <dgm:t>
        <a:bodyPr/>
        <a:lstStyle/>
        <a:p>
          <a:r>
            <a:rPr lang="en-US"/>
            <a:t>Grabbing and inserting parts works better in VR than on a normal screen</a:t>
          </a:r>
        </a:p>
      </dgm:t>
    </dgm:pt>
    <dgm:pt modelId="{76041E29-E0CD-4916-856E-A21B90495887}" type="parTrans" cxnId="{574D7E61-DDEB-4603-B0A9-C8D748083545}">
      <dgm:prSet/>
      <dgm:spPr/>
      <dgm:t>
        <a:bodyPr/>
        <a:lstStyle/>
        <a:p>
          <a:endParaRPr lang="en-US"/>
        </a:p>
      </dgm:t>
    </dgm:pt>
    <dgm:pt modelId="{090B21BE-6B60-4467-8DF6-3DE0B6AEE59C}" type="sibTrans" cxnId="{574D7E61-DDEB-4603-B0A9-C8D748083545}">
      <dgm:prSet/>
      <dgm:spPr/>
      <dgm:t>
        <a:bodyPr/>
        <a:lstStyle/>
        <a:p>
          <a:endParaRPr lang="en-US"/>
        </a:p>
      </dgm:t>
    </dgm:pt>
    <dgm:pt modelId="{629C1747-2A27-41BB-8D3E-6F7DCD533E42}">
      <dgm:prSet/>
      <dgm:spPr/>
      <dgm:t>
        <a:bodyPr/>
        <a:lstStyle/>
        <a:p>
          <a:r>
            <a:rPr lang="en-US"/>
            <a:t>Repairing rover parts feels more direct when the player uses hand motions</a:t>
          </a:r>
        </a:p>
      </dgm:t>
    </dgm:pt>
    <dgm:pt modelId="{1C6C9B00-1F45-4A66-A623-7B8390BCE2F7}" type="parTrans" cxnId="{B20679E4-7B20-422A-8487-C531D4196555}">
      <dgm:prSet/>
      <dgm:spPr/>
      <dgm:t>
        <a:bodyPr/>
        <a:lstStyle/>
        <a:p>
          <a:endParaRPr lang="en-US"/>
        </a:p>
      </dgm:t>
    </dgm:pt>
    <dgm:pt modelId="{AFAECA87-63DC-40E4-9068-5AA7FBF69780}" type="sibTrans" cxnId="{B20679E4-7B20-422A-8487-C531D4196555}">
      <dgm:prSet/>
      <dgm:spPr/>
      <dgm:t>
        <a:bodyPr/>
        <a:lstStyle/>
        <a:p>
          <a:endParaRPr lang="en-US"/>
        </a:p>
      </dgm:t>
    </dgm:pt>
    <dgm:pt modelId="{26A394A5-5B24-4ABC-A23D-BA8E865796A3}">
      <dgm:prSet/>
      <dgm:spPr/>
      <dgm:t>
        <a:bodyPr/>
        <a:lstStyle/>
        <a:p>
          <a:r>
            <a:rPr lang="en-US"/>
            <a:t>The player can see the rover change as each step is completed</a:t>
          </a:r>
        </a:p>
      </dgm:t>
    </dgm:pt>
    <dgm:pt modelId="{976EDEF3-557C-47AB-AEE9-5D10CE9B5AE5}" type="parTrans" cxnId="{A2DF6343-C81E-4BB2-B158-0E3DEB0A2481}">
      <dgm:prSet/>
      <dgm:spPr/>
      <dgm:t>
        <a:bodyPr/>
        <a:lstStyle/>
        <a:p>
          <a:endParaRPr lang="en-US"/>
        </a:p>
      </dgm:t>
    </dgm:pt>
    <dgm:pt modelId="{9FA45625-7793-4C96-A009-07F2BE0D9A64}" type="sibTrans" cxnId="{A2DF6343-C81E-4BB2-B158-0E3DEB0A2481}">
      <dgm:prSet/>
      <dgm:spPr/>
      <dgm:t>
        <a:bodyPr/>
        <a:lstStyle/>
        <a:p>
          <a:endParaRPr lang="en-US"/>
        </a:p>
      </dgm:t>
    </dgm:pt>
    <dgm:pt modelId="{B27C9EC2-1061-48CC-8CF0-44B313FAFA3B}">
      <dgm:prSet/>
      <dgm:spPr/>
      <dgm:t>
        <a:bodyPr/>
        <a:lstStyle/>
        <a:p>
          <a:r>
            <a:rPr lang="en-US"/>
            <a:t>A one-room project is realistic for a 2-person team and easier to finish well</a:t>
          </a:r>
        </a:p>
      </dgm:t>
    </dgm:pt>
    <dgm:pt modelId="{70EB6EDA-7131-44E6-A1EB-9D8E27563898}" type="parTrans" cxnId="{48A53F5D-F36C-4713-850D-F0FD9AC5A7DE}">
      <dgm:prSet/>
      <dgm:spPr/>
      <dgm:t>
        <a:bodyPr/>
        <a:lstStyle/>
        <a:p>
          <a:endParaRPr lang="en-US"/>
        </a:p>
      </dgm:t>
    </dgm:pt>
    <dgm:pt modelId="{6E0DB864-1F35-44BD-9821-3458379AE787}" type="sibTrans" cxnId="{48A53F5D-F36C-4713-850D-F0FD9AC5A7DE}">
      <dgm:prSet/>
      <dgm:spPr/>
      <dgm:t>
        <a:bodyPr/>
        <a:lstStyle/>
        <a:p>
          <a:endParaRPr lang="en-US"/>
        </a:p>
      </dgm:t>
    </dgm:pt>
    <dgm:pt modelId="{859C7377-8013-402C-A452-EC34DA7B3CDE}" type="pres">
      <dgm:prSet presAssocID="{1562CABD-708E-456F-9A33-54F121AC3FA5}" presName="vert0" presStyleCnt="0">
        <dgm:presLayoutVars>
          <dgm:dir/>
          <dgm:animOne val="branch"/>
          <dgm:animLvl val="lvl"/>
        </dgm:presLayoutVars>
      </dgm:prSet>
      <dgm:spPr/>
    </dgm:pt>
    <dgm:pt modelId="{30A97754-FFDD-4403-B1B7-9EB66A005D62}" type="pres">
      <dgm:prSet presAssocID="{4F3AFE1C-634B-494A-B87C-2318D1EAFC4E}" presName="thickLine" presStyleLbl="alignNode1" presStyleIdx="0" presStyleCnt="4"/>
      <dgm:spPr/>
    </dgm:pt>
    <dgm:pt modelId="{58D470EE-120F-49E1-AD22-51238BAC5240}" type="pres">
      <dgm:prSet presAssocID="{4F3AFE1C-634B-494A-B87C-2318D1EAFC4E}" presName="horz1" presStyleCnt="0"/>
      <dgm:spPr/>
    </dgm:pt>
    <dgm:pt modelId="{99FE409F-577F-4DD2-BBD6-4D064ACCF6EE}" type="pres">
      <dgm:prSet presAssocID="{4F3AFE1C-634B-494A-B87C-2318D1EAFC4E}" presName="tx1" presStyleLbl="revTx" presStyleIdx="0" presStyleCnt="4"/>
      <dgm:spPr/>
    </dgm:pt>
    <dgm:pt modelId="{EAD65025-46E4-4E44-9855-2B4A64946700}" type="pres">
      <dgm:prSet presAssocID="{4F3AFE1C-634B-494A-B87C-2318D1EAFC4E}" presName="vert1" presStyleCnt="0"/>
      <dgm:spPr/>
    </dgm:pt>
    <dgm:pt modelId="{240415E0-9743-44DA-95FF-2768DC84F02D}" type="pres">
      <dgm:prSet presAssocID="{629C1747-2A27-41BB-8D3E-6F7DCD533E42}" presName="thickLine" presStyleLbl="alignNode1" presStyleIdx="1" presStyleCnt="4"/>
      <dgm:spPr/>
    </dgm:pt>
    <dgm:pt modelId="{F1396A13-AEBF-4D2F-8C30-3A1A279D4FFD}" type="pres">
      <dgm:prSet presAssocID="{629C1747-2A27-41BB-8D3E-6F7DCD533E42}" presName="horz1" presStyleCnt="0"/>
      <dgm:spPr/>
    </dgm:pt>
    <dgm:pt modelId="{F8C23A1B-FBF5-44FA-8EFD-9997173778A3}" type="pres">
      <dgm:prSet presAssocID="{629C1747-2A27-41BB-8D3E-6F7DCD533E42}" presName="tx1" presStyleLbl="revTx" presStyleIdx="1" presStyleCnt="4"/>
      <dgm:spPr/>
    </dgm:pt>
    <dgm:pt modelId="{1A27507F-1951-410F-94E8-A41AA8656BE6}" type="pres">
      <dgm:prSet presAssocID="{629C1747-2A27-41BB-8D3E-6F7DCD533E42}" presName="vert1" presStyleCnt="0"/>
      <dgm:spPr/>
    </dgm:pt>
    <dgm:pt modelId="{17C5869A-F03A-4EED-A8D7-092A7ECEF5C7}" type="pres">
      <dgm:prSet presAssocID="{26A394A5-5B24-4ABC-A23D-BA8E865796A3}" presName="thickLine" presStyleLbl="alignNode1" presStyleIdx="2" presStyleCnt="4"/>
      <dgm:spPr/>
    </dgm:pt>
    <dgm:pt modelId="{8A05C8B6-0A4D-4583-93ED-617D01B1C6ED}" type="pres">
      <dgm:prSet presAssocID="{26A394A5-5B24-4ABC-A23D-BA8E865796A3}" presName="horz1" presStyleCnt="0"/>
      <dgm:spPr/>
    </dgm:pt>
    <dgm:pt modelId="{B3A4B2AD-EEDF-4121-906B-5E503B068947}" type="pres">
      <dgm:prSet presAssocID="{26A394A5-5B24-4ABC-A23D-BA8E865796A3}" presName="tx1" presStyleLbl="revTx" presStyleIdx="2" presStyleCnt="4"/>
      <dgm:spPr/>
    </dgm:pt>
    <dgm:pt modelId="{DA8A0542-71C4-4631-BD44-6F0D97662DDE}" type="pres">
      <dgm:prSet presAssocID="{26A394A5-5B24-4ABC-A23D-BA8E865796A3}" presName="vert1" presStyleCnt="0"/>
      <dgm:spPr/>
    </dgm:pt>
    <dgm:pt modelId="{8E2D0199-21F1-41C5-8E24-1F3743B2C462}" type="pres">
      <dgm:prSet presAssocID="{B27C9EC2-1061-48CC-8CF0-44B313FAFA3B}" presName="thickLine" presStyleLbl="alignNode1" presStyleIdx="3" presStyleCnt="4"/>
      <dgm:spPr/>
    </dgm:pt>
    <dgm:pt modelId="{B2CE7C5A-1B13-4E81-B3D4-FD4C350252CF}" type="pres">
      <dgm:prSet presAssocID="{B27C9EC2-1061-48CC-8CF0-44B313FAFA3B}" presName="horz1" presStyleCnt="0"/>
      <dgm:spPr/>
    </dgm:pt>
    <dgm:pt modelId="{3945FDA5-2D4E-47CC-AF1E-F8841CF2047D}" type="pres">
      <dgm:prSet presAssocID="{B27C9EC2-1061-48CC-8CF0-44B313FAFA3B}" presName="tx1" presStyleLbl="revTx" presStyleIdx="3" presStyleCnt="4"/>
      <dgm:spPr/>
    </dgm:pt>
    <dgm:pt modelId="{948A8DBD-8E40-4B92-99B4-02B404CA0FE0}" type="pres">
      <dgm:prSet presAssocID="{B27C9EC2-1061-48CC-8CF0-44B313FAFA3B}" presName="vert1" presStyleCnt="0"/>
      <dgm:spPr/>
    </dgm:pt>
  </dgm:ptLst>
  <dgm:cxnLst>
    <dgm:cxn modelId="{02445D02-EF67-4117-9F7B-666C164CB899}" type="presOf" srcId="{1562CABD-708E-456F-9A33-54F121AC3FA5}" destId="{859C7377-8013-402C-A452-EC34DA7B3CDE}" srcOrd="0" destOrd="0" presId="urn:microsoft.com/office/officeart/2008/layout/LinedList"/>
    <dgm:cxn modelId="{48A53F5D-F36C-4713-850D-F0FD9AC5A7DE}" srcId="{1562CABD-708E-456F-9A33-54F121AC3FA5}" destId="{B27C9EC2-1061-48CC-8CF0-44B313FAFA3B}" srcOrd="3" destOrd="0" parTransId="{70EB6EDA-7131-44E6-A1EB-9D8E27563898}" sibTransId="{6E0DB864-1F35-44BD-9821-3458379AE787}"/>
    <dgm:cxn modelId="{574D7E61-DDEB-4603-B0A9-C8D748083545}" srcId="{1562CABD-708E-456F-9A33-54F121AC3FA5}" destId="{4F3AFE1C-634B-494A-B87C-2318D1EAFC4E}" srcOrd="0" destOrd="0" parTransId="{76041E29-E0CD-4916-856E-A21B90495887}" sibTransId="{090B21BE-6B60-4467-8DF6-3DE0B6AEE59C}"/>
    <dgm:cxn modelId="{A2DF6343-C81E-4BB2-B158-0E3DEB0A2481}" srcId="{1562CABD-708E-456F-9A33-54F121AC3FA5}" destId="{26A394A5-5B24-4ABC-A23D-BA8E865796A3}" srcOrd="2" destOrd="0" parTransId="{976EDEF3-557C-47AB-AEE9-5D10CE9B5AE5}" sibTransId="{9FA45625-7793-4C96-A009-07F2BE0D9A64}"/>
    <dgm:cxn modelId="{3D3DD86C-4B21-46EA-A7A6-EDA1B59C3B1F}" type="presOf" srcId="{4F3AFE1C-634B-494A-B87C-2318D1EAFC4E}" destId="{99FE409F-577F-4DD2-BBD6-4D064ACCF6EE}" srcOrd="0" destOrd="0" presId="urn:microsoft.com/office/officeart/2008/layout/LinedList"/>
    <dgm:cxn modelId="{C8A1FF96-2AFD-48FA-BD00-71E3512B9DA9}" type="presOf" srcId="{26A394A5-5B24-4ABC-A23D-BA8E865796A3}" destId="{B3A4B2AD-EEDF-4121-906B-5E503B068947}" srcOrd="0" destOrd="0" presId="urn:microsoft.com/office/officeart/2008/layout/LinedList"/>
    <dgm:cxn modelId="{5A1682BC-BB8C-4CB7-8325-7D01B61A277B}" type="presOf" srcId="{629C1747-2A27-41BB-8D3E-6F7DCD533E42}" destId="{F8C23A1B-FBF5-44FA-8EFD-9997173778A3}" srcOrd="0" destOrd="0" presId="urn:microsoft.com/office/officeart/2008/layout/LinedList"/>
    <dgm:cxn modelId="{10EBC5DB-2642-4ADB-B22D-EE610FDAF475}" type="presOf" srcId="{B27C9EC2-1061-48CC-8CF0-44B313FAFA3B}" destId="{3945FDA5-2D4E-47CC-AF1E-F8841CF2047D}" srcOrd="0" destOrd="0" presId="urn:microsoft.com/office/officeart/2008/layout/LinedList"/>
    <dgm:cxn modelId="{B20679E4-7B20-422A-8487-C531D4196555}" srcId="{1562CABD-708E-456F-9A33-54F121AC3FA5}" destId="{629C1747-2A27-41BB-8D3E-6F7DCD533E42}" srcOrd="1" destOrd="0" parTransId="{1C6C9B00-1F45-4A66-A623-7B8390BCE2F7}" sibTransId="{AFAECA87-63DC-40E4-9068-5AA7FBF69780}"/>
    <dgm:cxn modelId="{8B332EEA-8F52-4BB9-86EB-26D41A6C8EE0}" type="presParOf" srcId="{859C7377-8013-402C-A452-EC34DA7B3CDE}" destId="{30A97754-FFDD-4403-B1B7-9EB66A005D62}" srcOrd="0" destOrd="0" presId="urn:microsoft.com/office/officeart/2008/layout/LinedList"/>
    <dgm:cxn modelId="{41D617F6-AC5F-4BCF-9FE9-E2CCACB52AA8}" type="presParOf" srcId="{859C7377-8013-402C-A452-EC34DA7B3CDE}" destId="{58D470EE-120F-49E1-AD22-51238BAC5240}" srcOrd="1" destOrd="0" presId="urn:microsoft.com/office/officeart/2008/layout/LinedList"/>
    <dgm:cxn modelId="{034944B4-175A-4AF7-8B83-179B30F826FF}" type="presParOf" srcId="{58D470EE-120F-49E1-AD22-51238BAC5240}" destId="{99FE409F-577F-4DD2-BBD6-4D064ACCF6EE}" srcOrd="0" destOrd="0" presId="urn:microsoft.com/office/officeart/2008/layout/LinedList"/>
    <dgm:cxn modelId="{E733F00C-34C1-4E1C-8AA6-4E9AA6730B8D}" type="presParOf" srcId="{58D470EE-120F-49E1-AD22-51238BAC5240}" destId="{EAD65025-46E4-4E44-9855-2B4A64946700}" srcOrd="1" destOrd="0" presId="urn:microsoft.com/office/officeart/2008/layout/LinedList"/>
    <dgm:cxn modelId="{462D676C-F075-4DEC-86C9-6E38D8D70EDA}" type="presParOf" srcId="{859C7377-8013-402C-A452-EC34DA7B3CDE}" destId="{240415E0-9743-44DA-95FF-2768DC84F02D}" srcOrd="2" destOrd="0" presId="urn:microsoft.com/office/officeart/2008/layout/LinedList"/>
    <dgm:cxn modelId="{2C16CD22-7786-41C1-85A9-89E04AF27B7A}" type="presParOf" srcId="{859C7377-8013-402C-A452-EC34DA7B3CDE}" destId="{F1396A13-AEBF-4D2F-8C30-3A1A279D4FFD}" srcOrd="3" destOrd="0" presId="urn:microsoft.com/office/officeart/2008/layout/LinedList"/>
    <dgm:cxn modelId="{F52DEE19-0588-44BA-8D73-FCBB34773D75}" type="presParOf" srcId="{F1396A13-AEBF-4D2F-8C30-3A1A279D4FFD}" destId="{F8C23A1B-FBF5-44FA-8EFD-9997173778A3}" srcOrd="0" destOrd="0" presId="urn:microsoft.com/office/officeart/2008/layout/LinedList"/>
    <dgm:cxn modelId="{F0AE2B44-F6C7-4EA4-95C9-3846545288CE}" type="presParOf" srcId="{F1396A13-AEBF-4D2F-8C30-3A1A279D4FFD}" destId="{1A27507F-1951-410F-94E8-A41AA8656BE6}" srcOrd="1" destOrd="0" presId="urn:microsoft.com/office/officeart/2008/layout/LinedList"/>
    <dgm:cxn modelId="{5BE4AEBE-D86D-46BC-9DD1-2BCBE5F2DF46}" type="presParOf" srcId="{859C7377-8013-402C-A452-EC34DA7B3CDE}" destId="{17C5869A-F03A-4EED-A8D7-092A7ECEF5C7}" srcOrd="4" destOrd="0" presId="urn:microsoft.com/office/officeart/2008/layout/LinedList"/>
    <dgm:cxn modelId="{BE6507E2-32A4-4E87-88A2-41C9620F8F6E}" type="presParOf" srcId="{859C7377-8013-402C-A452-EC34DA7B3CDE}" destId="{8A05C8B6-0A4D-4583-93ED-617D01B1C6ED}" srcOrd="5" destOrd="0" presId="urn:microsoft.com/office/officeart/2008/layout/LinedList"/>
    <dgm:cxn modelId="{A8C6A073-BC96-4FEC-B560-0ADC250AD9DD}" type="presParOf" srcId="{8A05C8B6-0A4D-4583-93ED-617D01B1C6ED}" destId="{B3A4B2AD-EEDF-4121-906B-5E503B068947}" srcOrd="0" destOrd="0" presId="urn:microsoft.com/office/officeart/2008/layout/LinedList"/>
    <dgm:cxn modelId="{89B6AC4C-17A2-479E-80D9-F9A73999EB69}" type="presParOf" srcId="{8A05C8B6-0A4D-4583-93ED-617D01B1C6ED}" destId="{DA8A0542-71C4-4631-BD44-6F0D97662DDE}" srcOrd="1" destOrd="0" presId="urn:microsoft.com/office/officeart/2008/layout/LinedList"/>
    <dgm:cxn modelId="{60F29FD1-944A-4AF7-8FC1-BA01145D7696}" type="presParOf" srcId="{859C7377-8013-402C-A452-EC34DA7B3CDE}" destId="{8E2D0199-21F1-41C5-8E24-1F3743B2C462}" srcOrd="6" destOrd="0" presId="urn:microsoft.com/office/officeart/2008/layout/LinedList"/>
    <dgm:cxn modelId="{89D8EE93-7467-409E-A878-97B496633E4C}" type="presParOf" srcId="{859C7377-8013-402C-A452-EC34DA7B3CDE}" destId="{B2CE7C5A-1B13-4E81-B3D4-FD4C350252CF}" srcOrd="7" destOrd="0" presId="urn:microsoft.com/office/officeart/2008/layout/LinedList"/>
    <dgm:cxn modelId="{8EAE0607-1432-4FF7-BD82-9FFDD7A7326C}" type="presParOf" srcId="{B2CE7C5A-1B13-4E81-B3D4-FD4C350252CF}" destId="{3945FDA5-2D4E-47CC-AF1E-F8841CF2047D}" srcOrd="0" destOrd="0" presId="urn:microsoft.com/office/officeart/2008/layout/LinedList"/>
    <dgm:cxn modelId="{2B666FCF-63C7-43DC-AEF8-85EB2203595F}" type="presParOf" srcId="{B2CE7C5A-1B13-4E81-B3D4-FD4C350252CF}" destId="{948A8DBD-8E40-4B92-99B4-02B404CA0FE0}"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250C99-F28D-41D9-9F48-ADD5EFE4D05C}">
      <dsp:nvSpPr>
        <dsp:cNvPr id="0" name=""/>
        <dsp:cNvSpPr/>
      </dsp:nvSpPr>
      <dsp:spPr>
        <a:xfrm>
          <a:off x="0" y="2392"/>
          <a:ext cx="6266011" cy="0"/>
        </a:xfrm>
        <a:prstGeom prst="line">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0000"/>
                <a:lumMod val="90000"/>
              </a:schemeClr>
            </a:gs>
          </a:gsLst>
          <a:lin ang="5400000" scaled="0"/>
        </a:gradFill>
        <a:ln w="9525" cap="rnd" cmpd="sng" algn="ctr">
          <a:solidFill>
            <a:schemeClr val="accent2">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9EF21286-9E28-41F5-8FBC-E07E32B3EB2D}">
      <dsp:nvSpPr>
        <dsp:cNvPr id="0" name=""/>
        <dsp:cNvSpPr/>
      </dsp:nvSpPr>
      <dsp:spPr>
        <a:xfrm>
          <a:off x="0" y="2392"/>
          <a:ext cx="6266011" cy="1631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The player restores a damaged rover before deployment</a:t>
          </a:r>
        </a:p>
      </dsp:txBody>
      <dsp:txXfrm>
        <a:off x="0" y="2392"/>
        <a:ext cx="6266011" cy="1631587"/>
      </dsp:txXfrm>
    </dsp:sp>
    <dsp:sp modelId="{1FB6CCC5-4DBE-4249-93D8-4F36FDFDB94A}">
      <dsp:nvSpPr>
        <dsp:cNvPr id="0" name=""/>
        <dsp:cNvSpPr/>
      </dsp:nvSpPr>
      <dsp:spPr>
        <a:xfrm>
          <a:off x="0" y="1633979"/>
          <a:ext cx="6266011" cy="0"/>
        </a:xfrm>
        <a:prstGeom prst="line">
          <a:avLst/>
        </a:prstGeom>
        <a:gradFill rotWithShape="0">
          <a:gsLst>
            <a:gs pos="0">
              <a:schemeClr val="accent2">
                <a:hueOff val="-355029"/>
                <a:satOff val="-2934"/>
                <a:lumOff val="-6274"/>
                <a:alphaOff val="0"/>
                <a:tint val="96000"/>
                <a:lumMod val="104000"/>
              </a:schemeClr>
            </a:gs>
            <a:gs pos="100000">
              <a:schemeClr val="accent2">
                <a:hueOff val="-355029"/>
                <a:satOff val="-2934"/>
                <a:lumOff val="-6274"/>
                <a:alphaOff val="0"/>
                <a:shade val="90000"/>
                <a:lumMod val="90000"/>
              </a:schemeClr>
            </a:gs>
          </a:gsLst>
          <a:lin ang="5400000" scaled="0"/>
        </a:gradFill>
        <a:ln w="9525" cap="rnd" cmpd="sng" algn="ctr">
          <a:solidFill>
            <a:schemeClr val="accent2">
              <a:hueOff val="-355029"/>
              <a:satOff val="-2934"/>
              <a:lumOff val="-6274"/>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87F047FD-8E5E-48FE-A0F8-4E5ECAB5BF2A}">
      <dsp:nvSpPr>
        <dsp:cNvPr id="0" name=""/>
        <dsp:cNvSpPr/>
      </dsp:nvSpPr>
      <dsp:spPr>
        <a:xfrm>
          <a:off x="0" y="1633979"/>
          <a:ext cx="6266011" cy="1631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Main tasks are inserting power modules and repairing damaged parts</a:t>
          </a:r>
        </a:p>
      </dsp:txBody>
      <dsp:txXfrm>
        <a:off x="0" y="1633979"/>
        <a:ext cx="6266011" cy="1631587"/>
      </dsp:txXfrm>
    </dsp:sp>
    <dsp:sp modelId="{BA3B9777-7F1F-4E6C-99D9-7D0421F1505D}">
      <dsp:nvSpPr>
        <dsp:cNvPr id="0" name=""/>
        <dsp:cNvSpPr/>
      </dsp:nvSpPr>
      <dsp:spPr>
        <a:xfrm>
          <a:off x="0" y="3265567"/>
          <a:ext cx="6266011" cy="0"/>
        </a:xfrm>
        <a:prstGeom prst="line">
          <a:avLst/>
        </a:prstGeom>
        <a:gradFill rotWithShape="0">
          <a:gsLst>
            <a:gs pos="0">
              <a:schemeClr val="accent2">
                <a:hueOff val="-710059"/>
                <a:satOff val="-5868"/>
                <a:lumOff val="-12549"/>
                <a:alphaOff val="0"/>
                <a:tint val="96000"/>
                <a:lumMod val="104000"/>
              </a:schemeClr>
            </a:gs>
            <a:gs pos="100000">
              <a:schemeClr val="accent2">
                <a:hueOff val="-710059"/>
                <a:satOff val="-5868"/>
                <a:lumOff val="-12549"/>
                <a:alphaOff val="0"/>
                <a:shade val="90000"/>
                <a:lumMod val="90000"/>
              </a:schemeClr>
            </a:gs>
          </a:gsLst>
          <a:lin ang="5400000" scaled="0"/>
        </a:gradFill>
        <a:ln w="9525" cap="rnd" cmpd="sng" algn="ctr">
          <a:solidFill>
            <a:schemeClr val="accent2">
              <a:hueOff val="-710059"/>
              <a:satOff val="-5868"/>
              <a:lumOff val="-12549"/>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4AA1C4A1-41AA-464E-9397-0AEA2290CDAD}">
      <dsp:nvSpPr>
        <dsp:cNvPr id="0" name=""/>
        <dsp:cNvSpPr/>
      </dsp:nvSpPr>
      <dsp:spPr>
        <a:xfrm>
          <a:off x="0" y="3265567"/>
          <a:ext cx="6266011" cy="1631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b="0" kern="1200" dirty="0"/>
            <a:t>The player interacts with the rover directly using the controllers</a:t>
          </a:r>
          <a:endParaRPr lang="en-US" sz="3400" kern="1200" dirty="0"/>
        </a:p>
      </dsp:txBody>
      <dsp:txXfrm>
        <a:off x="0" y="3265567"/>
        <a:ext cx="6266011" cy="16315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A97754-FFDD-4403-B1B7-9EB66A005D62}">
      <dsp:nvSpPr>
        <dsp:cNvPr id="0" name=""/>
        <dsp:cNvSpPr/>
      </dsp:nvSpPr>
      <dsp:spPr>
        <a:xfrm>
          <a:off x="0" y="0"/>
          <a:ext cx="5546272" cy="0"/>
        </a:xfrm>
        <a:prstGeom prst="line">
          <a:avLst/>
        </a:prstGeom>
        <a:solidFill>
          <a:schemeClr val="accent5">
            <a:hueOff val="0"/>
            <a:satOff val="0"/>
            <a:lumOff val="0"/>
            <a:alphaOff val="0"/>
          </a:schemeClr>
        </a:solidFill>
        <a:ln w="1587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FE409F-577F-4DD2-BBD6-4D064ACCF6EE}">
      <dsp:nvSpPr>
        <dsp:cNvPr id="0" name=""/>
        <dsp:cNvSpPr/>
      </dsp:nvSpPr>
      <dsp:spPr>
        <a:xfrm>
          <a:off x="0" y="0"/>
          <a:ext cx="5546272" cy="101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Grabbing and inserting parts works better in VR than on a normal screen</a:t>
          </a:r>
        </a:p>
      </dsp:txBody>
      <dsp:txXfrm>
        <a:off x="0" y="0"/>
        <a:ext cx="5546272" cy="1014687"/>
      </dsp:txXfrm>
    </dsp:sp>
    <dsp:sp modelId="{240415E0-9743-44DA-95FF-2768DC84F02D}">
      <dsp:nvSpPr>
        <dsp:cNvPr id="0" name=""/>
        <dsp:cNvSpPr/>
      </dsp:nvSpPr>
      <dsp:spPr>
        <a:xfrm>
          <a:off x="0" y="1014687"/>
          <a:ext cx="5546272" cy="0"/>
        </a:xfrm>
        <a:prstGeom prst="line">
          <a:avLst/>
        </a:prstGeom>
        <a:solidFill>
          <a:schemeClr val="accent5">
            <a:hueOff val="534349"/>
            <a:satOff val="-6292"/>
            <a:lumOff val="4183"/>
            <a:alphaOff val="0"/>
          </a:schemeClr>
        </a:solidFill>
        <a:ln w="15875" cap="rnd" cmpd="sng" algn="ctr">
          <a:solidFill>
            <a:schemeClr val="accent5">
              <a:hueOff val="534349"/>
              <a:satOff val="-6292"/>
              <a:lumOff val="41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C23A1B-FBF5-44FA-8EFD-9997173778A3}">
      <dsp:nvSpPr>
        <dsp:cNvPr id="0" name=""/>
        <dsp:cNvSpPr/>
      </dsp:nvSpPr>
      <dsp:spPr>
        <a:xfrm>
          <a:off x="0" y="1014687"/>
          <a:ext cx="5546272" cy="101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Repairing rover parts feels more direct when the player uses hand motions</a:t>
          </a:r>
        </a:p>
      </dsp:txBody>
      <dsp:txXfrm>
        <a:off x="0" y="1014687"/>
        <a:ext cx="5546272" cy="1014687"/>
      </dsp:txXfrm>
    </dsp:sp>
    <dsp:sp modelId="{17C5869A-F03A-4EED-A8D7-092A7ECEF5C7}">
      <dsp:nvSpPr>
        <dsp:cNvPr id="0" name=""/>
        <dsp:cNvSpPr/>
      </dsp:nvSpPr>
      <dsp:spPr>
        <a:xfrm>
          <a:off x="0" y="2029375"/>
          <a:ext cx="5546272" cy="0"/>
        </a:xfrm>
        <a:prstGeom prst="line">
          <a:avLst/>
        </a:prstGeom>
        <a:solidFill>
          <a:schemeClr val="accent5">
            <a:hueOff val="1068698"/>
            <a:satOff val="-12584"/>
            <a:lumOff val="8366"/>
            <a:alphaOff val="0"/>
          </a:schemeClr>
        </a:solidFill>
        <a:ln w="15875" cap="rnd" cmpd="sng" algn="ctr">
          <a:solidFill>
            <a:schemeClr val="accent5">
              <a:hueOff val="1068698"/>
              <a:satOff val="-12584"/>
              <a:lumOff val="836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A4B2AD-EEDF-4121-906B-5E503B068947}">
      <dsp:nvSpPr>
        <dsp:cNvPr id="0" name=""/>
        <dsp:cNvSpPr/>
      </dsp:nvSpPr>
      <dsp:spPr>
        <a:xfrm>
          <a:off x="0" y="2029375"/>
          <a:ext cx="5546272" cy="101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The player can see the rover change as each step is completed</a:t>
          </a:r>
        </a:p>
      </dsp:txBody>
      <dsp:txXfrm>
        <a:off x="0" y="2029375"/>
        <a:ext cx="5546272" cy="1014687"/>
      </dsp:txXfrm>
    </dsp:sp>
    <dsp:sp modelId="{8E2D0199-21F1-41C5-8E24-1F3743B2C462}">
      <dsp:nvSpPr>
        <dsp:cNvPr id="0" name=""/>
        <dsp:cNvSpPr/>
      </dsp:nvSpPr>
      <dsp:spPr>
        <a:xfrm>
          <a:off x="0" y="3044063"/>
          <a:ext cx="5546272" cy="0"/>
        </a:xfrm>
        <a:prstGeom prst="line">
          <a:avLst/>
        </a:prstGeom>
        <a:solidFill>
          <a:schemeClr val="accent5">
            <a:hueOff val="1603047"/>
            <a:satOff val="-18876"/>
            <a:lumOff val="12549"/>
            <a:alphaOff val="0"/>
          </a:schemeClr>
        </a:solidFill>
        <a:ln w="15875" cap="rnd" cmpd="sng" algn="ctr">
          <a:solidFill>
            <a:schemeClr val="accent5">
              <a:hueOff val="1603047"/>
              <a:satOff val="-18876"/>
              <a:lumOff val="1254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45FDA5-2D4E-47CC-AF1E-F8841CF2047D}">
      <dsp:nvSpPr>
        <dsp:cNvPr id="0" name=""/>
        <dsp:cNvSpPr/>
      </dsp:nvSpPr>
      <dsp:spPr>
        <a:xfrm>
          <a:off x="0" y="3044063"/>
          <a:ext cx="5546272" cy="101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a:t>A one-room project is realistic for a 2-person team and easier to finish well</a:t>
          </a:r>
        </a:p>
      </dsp:txBody>
      <dsp:txXfrm>
        <a:off x="0" y="3044063"/>
        <a:ext cx="5546272" cy="101468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4ACCC6-8F53-4355-AFCB-89F7D6B1012D}"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175EF-E2E9-4119-B091-09CE48B29D3D}" type="slidenum">
              <a:rPr lang="en-US" smtClean="0"/>
              <a:t>‹#›</a:t>
            </a:fld>
            <a:endParaRPr lang="en-US"/>
          </a:p>
        </p:txBody>
      </p:sp>
    </p:spTree>
    <p:extLst>
      <p:ext uri="{BB962C8B-B14F-4D97-AF65-F5344CB8AC3E}">
        <p14:creationId xmlns:p14="http://schemas.microsoft.com/office/powerpoint/2010/main" val="53363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Our project is called Rover Ready. It is a small VR repair experience set in a single garage bay. The basic goal is simple: get a damaged rover working again before it can leave.</a:t>
            </a:r>
          </a:p>
        </p:txBody>
      </p:sp>
      <p:sp>
        <p:nvSpPr>
          <p:cNvPr id="4" name="Slide Number Placeholder 3"/>
          <p:cNvSpPr>
            <a:spLocks noGrp="1"/>
          </p:cNvSpPr>
          <p:nvPr>
            <p:ph type="sldNum" sz="quarter" idx="5"/>
          </p:nvPr>
        </p:nvSpPr>
        <p:spPr/>
        <p:txBody>
          <a:bodyPr/>
          <a:lstStyle/>
          <a:p>
            <a:fld id="{42F175EF-E2E9-4119-B091-09CE48B29D3D}" type="slidenum">
              <a:rPr lang="en-US" smtClean="0"/>
              <a:t>2</a:t>
            </a:fld>
            <a:endParaRPr lang="en-US"/>
          </a:p>
        </p:txBody>
      </p:sp>
    </p:spTree>
    <p:extLst>
      <p:ext uri="{BB962C8B-B14F-4D97-AF65-F5344CB8AC3E}">
        <p14:creationId xmlns:p14="http://schemas.microsoft.com/office/powerpoint/2010/main" val="1559621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VR makes sense for this because the whole experience requires reaching out, grabbing parts, putting them in place, and using a tool on the rover. That feels a lot more natural in VR than it would on a normal screen. Since the whole project is one room with two main interactions, it is also something we can realistically finish.</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2F175EF-E2E9-4119-B091-09CE48B29D3D}" type="slidenum">
              <a:rPr lang="en-US" smtClean="0"/>
              <a:t>3</a:t>
            </a:fld>
            <a:endParaRPr lang="en-US"/>
          </a:p>
        </p:txBody>
      </p:sp>
    </p:spTree>
    <p:extLst>
      <p:ext uri="{BB962C8B-B14F-4D97-AF65-F5344CB8AC3E}">
        <p14:creationId xmlns:p14="http://schemas.microsoft.com/office/powerpoint/2010/main" val="410873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scene is a single repair bay, with the rover in the middle. Around it are the charging rack, the tool wall, and the damaged rover parts that the player has to work on. We are also using a low-poly industrial style, so the scene stays manageable to build and still looks consistent.</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2F175EF-E2E9-4119-B091-09CE48B29D3D}" type="slidenum">
              <a:rPr lang="en-US" smtClean="0"/>
              <a:t>4</a:t>
            </a:fld>
            <a:endParaRPr lang="en-US"/>
          </a:p>
        </p:txBody>
      </p:sp>
    </p:spTree>
    <p:extLst>
      <p:ext uri="{BB962C8B-B14F-4D97-AF65-F5344CB8AC3E}">
        <p14:creationId xmlns:p14="http://schemas.microsoft.com/office/powerpoint/2010/main" val="4013851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interaction loop starts fairly simply. First, the player grabs a power module and inserts it into the rover, which powers it on. After that, the player uses the repair tool on the damaged rover parts, and the rover changes visually as it gets fixed. We also want the later repairs to get harder over time, so the game doesn't feel like the same task repeated time and time again.</a:t>
            </a:r>
          </a:p>
        </p:txBody>
      </p:sp>
      <p:sp>
        <p:nvSpPr>
          <p:cNvPr id="4" name="Slide Number Placeholder 3"/>
          <p:cNvSpPr>
            <a:spLocks noGrp="1"/>
          </p:cNvSpPr>
          <p:nvPr>
            <p:ph type="sldNum" sz="quarter" idx="5"/>
          </p:nvPr>
        </p:nvSpPr>
        <p:spPr/>
        <p:txBody>
          <a:bodyPr/>
          <a:lstStyle/>
          <a:p>
            <a:fld id="{42F175EF-E2E9-4119-B091-09CE48B29D3D}" type="slidenum">
              <a:rPr lang="en-US" smtClean="0"/>
              <a:t>5</a:t>
            </a:fld>
            <a:endParaRPr lang="en-US"/>
          </a:p>
        </p:txBody>
      </p:sp>
    </p:spTree>
    <p:extLst>
      <p:ext uri="{BB962C8B-B14F-4D97-AF65-F5344CB8AC3E}">
        <p14:creationId xmlns:p14="http://schemas.microsoft.com/office/powerpoint/2010/main" val="1398139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For the assignment requirements, this project gives us an original theme, two custom Blender assets, and two meaningful VR interactions. For the advanced features, we are planning physics and different object or tool behaviors. The main tools we are using are Blender, Three.js, </a:t>
            </a:r>
            <a:r>
              <a:rPr lang="en-US" sz="1200" b="0" kern="1200" dirty="0" err="1">
                <a:solidFill>
                  <a:schemeClr val="tx1"/>
                </a:solidFill>
                <a:effectLst/>
                <a:latin typeface="+mn-lt"/>
                <a:ea typeface="+mn-ea"/>
                <a:cs typeface="+mn-cs"/>
              </a:rPr>
              <a:t>WebXR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GLTFLoader</a:t>
            </a:r>
            <a:r>
              <a:rPr lang="en-US" sz="1200" b="0" kern="1200" dirty="0">
                <a:solidFill>
                  <a:schemeClr val="tx1"/>
                </a:solidFill>
                <a:effectLst/>
                <a:latin typeface="+mn-lt"/>
                <a:ea typeface="+mn-ea"/>
                <a:cs typeface="+mn-cs"/>
              </a:rPr>
              <a:t>, and Cannon-ES.</a:t>
            </a:r>
          </a:p>
        </p:txBody>
      </p:sp>
      <p:sp>
        <p:nvSpPr>
          <p:cNvPr id="4" name="Slide Number Placeholder 3"/>
          <p:cNvSpPr>
            <a:spLocks noGrp="1"/>
          </p:cNvSpPr>
          <p:nvPr>
            <p:ph type="sldNum" sz="quarter" idx="5"/>
          </p:nvPr>
        </p:nvSpPr>
        <p:spPr/>
        <p:txBody>
          <a:bodyPr/>
          <a:lstStyle/>
          <a:p>
            <a:fld id="{42F175EF-E2E9-4119-B091-09CE48B29D3D}" type="slidenum">
              <a:rPr lang="en-US" smtClean="0"/>
              <a:t>6</a:t>
            </a:fld>
            <a:endParaRPr lang="en-US"/>
          </a:p>
        </p:txBody>
      </p:sp>
    </p:spTree>
    <p:extLst>
      <p:ext uri="{BB962C8B-B14F-4D97-AF65-F5344CB8AC3E}">
        <p14:creationId xmlns:p14="http://schemas.microsoft.com/office/powerpoint/2010/main" val="109782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For the work split, Chirag is mainly handling the bay layout, the custom models, and the exports, while Dhrumil is mainly handling the </a:t>
            </a:r>
            <a:r>
              <a:rPr lang="en-US" sz="1200" b="0" kern="1200" dirty="0" err="1">
                <a:solidFill>
                  <a:schemeClr val="tx1"/>
                </a:solidFill>
                <a:effectLst/>
                <a:latin typeface="+mn-lt"/>
                <a:ea typeface="+mn-ea"/>
                <a:cs typeface="+mn-cs"/>
              </a:rPr>
              <a:t>WebXR</a:t>
            </a:r>
            <a:r>
              <a:rPr lang="en-US" sz="1200" b="0" kern="1200" dirty="0">
                <a:solidFill>
                  <a:schemeClr val="tx1"/>
                </a:solidFill>
                <a:effectLst/>
                <a:latin typeface="+mn-lt"/>
                <a:ea typeface="+mn-ea"/>
                <a:cs typeface="+mn-cs"/>
              </a:rPr>
              <a:t> setup, grabbing, repair logic, and physics. By April 20, we want the layout locked, the first custom asset finished, and the main interaction loop working. After that, we can spend the rest of the time testing in the emulator and cleaning things up before the final presentation.</a:t>
            </a:r>
          </a:p>
        </p:txBody>
      </p:sp>
      <p:sp>
        <p:nvSpPr>
          <p:cNvPr id="4" name="Slide Number Placeholder 3"/>
          <p:cNvSpPr>
            <a:spLocks noGrp="1"/>
          </p:cNvSpPr>
          <p:nvPr>
            <p:ph type="sldNum" sz="quarter" idx="5"/>
          </p:nvPr>
        </p:nvSpPr>
        <p:spPr/>
        <p:txBody>
          <a:bodyPr/>
          <a:lstStyle/>
          <a:p>
            <a:fld id="{42F175EF-E2E9-4119-B091-09CE48B29D3D}" type="slidenum">
              <a:rPr lang="en-US" smtClean="0"/>
              <a:t>7</a:t>
            </a:fld>
            <a:endParaRPr lang="en-US"/>
          </a:p>
        </p:txBody>
      </p:sp>
    </p:spTree>
    <p:extLst>
      <p:ext uri="{BB962C8B-B14F-4D97-AF65-F5344CB8AC3E}">
        <p14:creationId xmlns:p14="http://schemas.microsoft.com/office/powerpoint/2010/main" val="193946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81C376-0D00-4A5E-AD14-CCC9DDA441D1}"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4103521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81C376-0D00-4A5E-AD14-CCC9DDA441D1}"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1412806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81C376-0D00-4A5E-AD14-CCC9DDA441D1}"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12905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81C376-0D00-4A5E-AD14-CCC9DDA441D1}"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1454719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81C376-0D00-4A5E-AD14-CCC9DDA441D1}"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4097566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81C376-0D00-4A5E-AD14-CCC9DDA441D1}"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2426452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81C376-0D00-4A5E-AD14-CCC9DDA441D1}"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3360528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81C376-0D00-4A5E-AD14-CCC9DDA441D1}"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3571138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81C376-0D00-4A5E-AD14-CCC9DDA441D1}"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1278007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81C376-0D00-4A5E-AD14-CCC9DDA441D1}"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71017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81C376-0D00-4A5E-AD14-CCC9DDA441D1}"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12952844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81C376-0D00-4A5E-AD14-CCC9DDA441D1}"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292D-CC12-4773-A84F-138FCF820985}"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09015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81C376-0D00-4A5E-AD14-CCC9DDA441D1}"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1380790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781C376-0D00-4A5E-AD14-CCC9DDA441D1}"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769920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781C376-0D00-4A5E-AD14-CCC9DDA441D1}"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235711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81C376-0D00-4A5E-AD14-CCC9DDA441D1}"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3746244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81C376-0D00-4A5E-AD14-CCC9DDA441D1}"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4292D-CC12-4773-A84F-138FCF820985}" type="slidenum">
              <a:rPr lang="en-US" smtClean="0"/>
              <a:t>‹#›</a:t>
            </a:fld>
            <a:endParaRPr lang="en-US"/>
          </a:p>
        </p:txBody>
      </p:sp>
    </p:spTree>
    <p:extLst>
      <p:ext uri="{BB962C8B-B14F-4D97-AF65-F5344CB8AC3E}">
        <p14:creationId xmlns:p14="http://schemas.microsoft.com/office/powerpoint/2010/main" val="1712606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781C376-0D00-4A5E-AD14-CCC9DDA441D1}" type="datetimeFigureOut">
              <a:rPr lang="en-US" smtClean="0"/>
              <a:t>4/15/2026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CD4292D-CC12-4773-A84F-138FCF820985}" type="slidenum">
              <a:rPr lang="en-US" smtClean="0"/>
              <a:t>‹#›</a:t>
            </a:fld>
            <a:endParaRPr lang="en-US"/>
          </a:p>
        </p:txBody>
      </p:sp>
    </p:spTree>
    <p:extLst>
      <p:ext uri="{BB962C8B-B14F-4D97-AF65-F5344CB8AC3E}">
        <p14:creationId xmlns:p14="http://schemas.microsoft.com/office/powerpoint/2010/main" val="273157522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jpe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1.jpeg"/><Relationship Id="rId7" Type="http://schemas.openxmlformats.org/officeDocument/2006/relationships/diagramLayout" Target="../diagrams/layout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Data" Target="../diagrams/data2.xml"/><Relationship Id="rId5" Type="http://schemas.openxmlformats.org/officeDocument/2006/relationships/image" Target="../media/image8.jpg"/><Relationship Id="rId10" Type="http://schemas.microsoft.com/office/2007/relationships/diagramDrawing" Target="../diagrams/drawing2.xml"/><Relationship Id="rId4" Type="http://schemas.openxmlformats.org/officeDocument/2006/relationships/image" Target="../media/image7.png"/><Relationship Id="rId9" Type="http://schemas.openxmlformats.org/officeDocument/2006/relationships/diagramColors" Target="../diagrams/colors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AA11E8-29D4-B91D-5A5F-F57CF0898287}"/>
              </a:ext>
            </a:extLst>
          </p:cNvPr>
          <p:cNvPicPr>
            <a:picLocks noChangeAspect="1"/>
          </p:cNvPicPr>
          <p:nvPr/>
        </p:nvPicPr>
        <p:blipFill>
          <a:blip r:embed="rId3">
            <a:extLst>
              <a:ext uri="{28A0092B-C50C-407E-A947-70E740481C1C}">
                <a14:useLocalDpi xmlns:a14="http://schemas.microsoft.com/office/drawing/2010/main" val="0"/>
              </a:ext>
            </a:extLst>
          </a:blip>
          <a:srcRect t="4714" b="20286"/>
          <a:stretch>
            <a:fillRect/>
          </a:stretch>
        </p:blipFill>
        <p:spPr>
          <a:xfrm>
            <a:off x="20" y="10"/>
            <a:ext cx="12191981" cy="6857990"/>
          </a:xfrm>
          <a:prstGeom prst="rect">
            <a:avLst/>
          </a:prstGeom>
        </p:spPr>
      </p:pic>
      <p:sp useBgFill="1">
        <p:nvSpPr>
          <p:cNvPr id="10"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1028777"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98DFF1AC-1C90-B057-03C8-71FB0C1A3843}"/>
              </a:ext>
            </a:extLst>
          </p:cNvPr>
          <p:cNvSpPr>
            <a:spLocks noGrp="1"/>
          </p:cNvSpPr>
          <p:nvPr>
            <p:ph type="ctrTitle"/>
          </p:nvPr>
        </p:nvSpPr>
        <p:spPr>
          <a:xfrm>
            <a:off x="1316965" y="1673524"/>
            <a:ext cx="3485073" cy="2420504"/>
          </a:xfrm>
        </p:spPr>
        <p:txBody>
          <a:bodyPr>
            <a:normAutofit/>
          </a:bodyPr>
          <a:lstStyle/>
          <a:p>
            <a:pPr algn="l"/>
            <a:r>
              <a:rPr lang="en-US" sz="4000"/>
              <a:t>Rover Ready</a:t>
            </a:r>
          </a:p>
        </p:txBody>
      </p:sp>
      <p:sp>
        <p:nvSpPr>
          <p:cNvPr id="3" name="Subtitle 2">
            <a:extLst>
              <a:ext uri="{FF2B5EF4-FFF2-40B4-BE49-F238E27FC236}">
                <a16:creationId xmlns:a16="http://schemas.microsoft.com/office/drawing/2014/main" id="{2DE07905-DB32-C9B2-F85B-16B2CC70E161}"/>
              </a:ext>
            </a:extLst>
          </p:cNvPr>
          <p:cNvSpPr>
            <a:spLocks noGrp="1"/>
          </p:cNvSpPr>
          <p:nvPr>
            <p:ph type="subTitle" idx="1"/>
          </p:nvPr>
        </p:nvSpPr>
        <p:spPr>
          <a:xfrm>
            <a:off x="1316963" y="4157933"/>
            <a:ext cx="3485072" cy="1026544"/>
          </a:xfrm>
        </p:spPr>
        <p:txBody>
          <a:bodyPr>
            <a:normAutofit/>
          </a:bodyPr>
          <a:lstStyle/>
          <a:p>
            <a:pPr algn="l"/>
            <a:r>
              <a:rPr lang="en-US" sz="1700" dirty="0">
                <a:solidFill>
                  <a:srgbClr val="CEC82B"/>
                </a:solidFill>
              </a:rPr>
              <a:t>Chirag Baviskar and Dhrumil Patel</a:t>
            </a:r>
          </a:p>
        </p:txBody>
      </p:sp>
      <p:sp>
        <p:nvSpPr>
          <p:cNvPr id="12" name="Rectangle: Rounded Corners 11">
            <a:extLst>
              <a:ext uri="{FF2B5EF4-FFF2-40B4-BE49-F238E27FC236}">
                <a16:creationId xmlns:a16="http://schemas.microsoft.com/office/drawing/2014/main" id="{4B652971-064F-4B32-A213-B326E652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9677" y="1595889"/>
            <a:ext cx="3749615" cy="3680604"/>
          </a:xfrm>
          <a:prstGeom prst="roundRect">
            <a:avLst>
              <a:gd name="adj" fmla="val 2847"/>
            </a:avLst>
          </a:prstGeom>
          <a:noFill/>
          <a:ln w="12700">
            <a:solidFill>
              <a:schemeClr val="tx1">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18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387CB-D41E-88B6-77AD-7A0560409028}"/>
              </a:ext>
            </a:extLst>
          </p:cNvPr>
          <p:cNvSpPr>
            <a:spLocks noGrp="1"/>
          </p:cNvSpPr>
          <p:nvPr>
            <p:ph type="title"/>
          </p:nvPr>
        </p:nvSpPr>
        <p:spPr>
          <a:xfrm>
            <a:off x="633743" y="609599"/>
            <a:ext cx="3413156" cy="5273675"/>
          </a:xfrm>
        </p:spPr>
        <p:txBody>
          <a:bodyPr>
            <a:normAutofit/>
          </a:bodyPr>
          <a:lstStyle/>
          <a:p>
            <a:r>
              <a:rPr lang="en-US"/>
              <a:t>Introduction</a:t>
            </a:r>
            <a:endParaRPr lang="en-US" dirty="0"/>
          </a:p>
        </p:txBody>
      </p:sp>
      <p:pic>
        <p:nvPicPr>
          <p:cNvPr id="9" name="Picture 8">
            <a:extLst>
              <a:ext uri="{FF2B5EF4-FFF2-40B4-BE49-F238E27FC236}">
                <a16:creationId xmlns:a16="http://schemas.microsoft.com/office/drawing/2014/main" id="{82AABC82-C2D1-4340-A6DF-6E73DF06F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4639056" y="2"/>
            <a:ext cx="7552944" cy="6857998"/>
          </a:xfrm>
          <a:prstGeom prst="rect">
            <a:avLst/>
          </a:prstGeom>
        </p:spPr>
      </p:pic>
      <p:graphicFrame>
        <p:nvGraphicFramePr>
          <p:cNvPr id="5" name="Content Placeholder 2">
            <a:extLst>
              <a:ext uri="{FF2B5EF4-FFF2-40B4-BE49-F238E27FC236}">
                <a16:creationId xmlns:a16="http://schemas.microsoft.com/office/drawing/2014/main" id="{AE7626D9-3010-C41B-C3CE-18B48F7EF7F4}"/>
              </a:ext>
            </a:extLst>
          </p:cNvPr>
          <p:cNvGraphicFramePr>
            <a:graphicFrameLocks noGrp="1"/>
          </p:cNvGraphicFramePr>
          <p:nvPr>
            <p:ph idx="1"/>
            <p:extLst>
              <p:ext uri="{D42A27DB-BD31-4B8C-83A1-F6EECF244321}">
                <p14:modId xmlns:p14="http://schemas.microsoft.com/office/powerpoint/2010/main" val="1972720869"/>
              </p:ext>
            </p:extLst>
          </p:nvPr>
        </p:nvGraphicFramePr>
        <p:xfrm>
          <a:off x="5282521" y="709683"/>
          <a:ext cx="6266011" cy="489954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723934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14F5-2400-BC3C-C99B-3D69577C9BFC}"/>
              </a:ext>
            </a:extLst>
          </p:cNvPr>
          <p:cNvSpPr>
            <a:spLocks noGrp="1"/>
          </p:cNvSpPr>
          <p:nvPr>
            <p:ph type="title"/>
          </p:nvPr>
        </p:nvSpPr>
        <p:spPr>
          <a:xfrm>
            <a:off x="913795" y="609600"/>
            <a:ext cx="10353762" cy="970450"/>
          </a:xfrm>
        </p:spPr>
        <p:txBody>
          <a:bodyPr>
            <a:normAutofit/>
          </a:bodyPr>
          <a:lstStyle/>
          <a:p>
            <a:r>
              <a:rPr lang="en-US"/>
              <a:t>Why This Works in VR</a:t>
            </a:r>
            <a:endParaRPr lang="en-US" dirty="0"/>
          </a:p>
        </p:txBody>
      </p:sp>
      <p:pic>
        <p:nvPicPr>
          <p:cNvPr id="14" name="Picture 13">
            <a:extLst>
              <a:ext uri="{FF2B5EF4-FFF2-40B4-BE49-F238E27FC236}">
                <a16:creationId xmlns:a16="http://schemas.microsoft.com/office/drawing/2014/main" id="{AD661026-DE64-47F1-9F88-0847B5FB356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6934200" y="1998132"/>
            <a:ext cx="4333632" cy="3521077"/>
          </a:xfrm>
          <a:prstGeom prst="rect">
            <a:avLst/>
          </a:prstGeom>
        </p:spPr>
      </p:pic>
      <p:pic>
        <p:nvPicPr>
          <p:cNvPr id="4" name="Picture 3" descr="Person with VR headset">
            <a:extLst>
              <a:ext uri="{FF2B5EF4-FFF2-40B4-BE49-F238E27FC236}">
                <a16:creationId xmlns:a16="http://schemas.microsoft.com/office/drawing/2014/main" id="{D6828477-0F04-AF93-5F18-D9858EC2C32A}"/>
              </a:ext>
            </a:extLst>
          </p:cNvPr>
          <p:cNvPicPr>
            <a:picLocks noChangeAspect="1"/>
          </p:cNvPicPr>
          <p:nvPr/>
        </p:nvPicPr>
        <p:blipFill>
          <a:blip r:embed="rId5">
            <a:extLst>
              <a:ext uri="{28A0092B-C50C-407E-A947-70E740481C1C}">
                <a14:useLocalDpi xmlns:a14="http://schemas.microsoft.com/office/drawing/2010/main" val="0"/>
              </a:ext>
            </a:extLst>
          </a:blip>
          <a:srcRect l="6446" r="10259" b="-2"/>
          <a:stretch>
            <a:fillRect/>
          </a:stretch>
        </p:blipFill>
        <p:spPr>
          <a:xfrm>
            <a:off x="7066560" y="2132822"/>
            <a:ext cx="4065464" cy="3258006"/>
          </a:xfrm>
          <a:prstGeom prst="rect">
            <a:avLst/>
          </a:prstGeom>
        </p:spPr>
      </p:pic>
      <p:graphicFrame>
        <p:nvGraphicFramePr>
          <p:cNvPr id="5" name="Content Placeholder 2">
            <a:extLst>
              <a:ext uri="{FF2B5EF4-FFF2-40B4-BE49-F238E27FC236}">
                <a16:creationId xmlns:a16="http://schemas.microsoft.com/office/drawing/2014/main" id="{1648B19A-99C6-9836-7C19-77D0BF078EDF}"/>
              </a:ext>
            </a:extLst>
          </p:cNvPr>
          <p:cNvGraphicFramePr>
            <a:graphicFrameLocks noGrp="1"/>
          </p:cNvGraphicFramePr>
          <p:nvPr>
            <p:ph idx="1"/>
            <p:extLst>
              <p:ext uri="{D42A27DB-BD31-4B8C-83A1-F6EECF244321}">
                <p14:modId xmlns:p14="http://schemas.microsoft.com/office/powerpoint/2010/main" val="548746645"/>
              </p:ext>
            </p:extLst>
          </p:nvPr>
        </p:nvGraphicFramePr>
        <p:xfrm>
          <a:off x="913795" y="1732449"/>
          <a:ext cx="5546272" cy="405875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557391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FAAD9B2-DB56-5AC1-7F86-406D5057BF7A}"/>
              </a:ext>
            </a:extLst>
          </p:cNvPr>
          <p:cNvSpPr>
            <a:spLocks noGrp="1"/>
          </p:cNvSpPr>
          <p:nvPr>
            <p:ph type="title"/>
          </p:nvPr>
        </p:nvSpPr>
        <p:spPr/>
        <p:txBody>
          <a:bodyPr/>
          <a:lstStyle/>
          <a:p>
            <a:r>
              <a:rPr lang="en-US" dirty="0"/>
              <a:t>Scene and Art Direction</a:t>
            </a:r>
          </a:p>
        </p:txBody>
      </p:sp>
      <p:sp>
        <p:nvSpPr>
          <p:cNvPr id="8" name="Text Placeholder 7">
            <a:extLst>
              <a:ext uri="{FF2B5EF4-FFF2-40B4-BE49-F238E27FC236}">
                <a16:creationId xmlns:a16="http://schemas.microsoft.com/office/drawing/2014/main" id="{B5E733CB-0460-60C6-3C19-34517EFC3C24}"/>
              </a:ext>
            </a:extLst>
          </p:cNvPr>
          <p:cNvSpPr>
            <a:spLocks noGrp="1"/>
          </p:cNvSpPr>
          <p:nvPr>
            <p:ph type="body" idx="1"/>
          </p:nvPr>
        </p:nvSpPr>
        <p:spPr/>
        <p:txBody>
          <a:bodyPr/>
          <a:lstStyle/>
          <a:p>
            <a:r>
              <a:rPr lang="en-US" dirty="0"/>
              <a:t>Scene Setup</a:t>
            </a:r>
          </a:p>
        </p:txBody>
      </p:sp>
      <p:sp>
        <p:nvSpPr>
          <p:cNvPr id="9" name="Content Placeholder 8">
            <a:extLst>
              <a:ext uri="{FF2B5EF4-FFF2-40B4-BE49-F238E27FC236}">
                <a16:creationId xmlns:a16="http://schemas.microsoft.com/office/drawing/2014/main" id="{1CC6E3C5-710F-EB57-B210-726E055FC154}"/>
              </a:ext>
            </a:extLst>
          </p:cNvPr>
          <p:cNvSpPr>
            <a:spLocks noGrp="1"/>
          </p:cNvSpPr>
          <p:nvPr>
            <p:ph sz="half" idx="2"/>
          </p:nvPr>
        </p:nvSpPr>
        <p:spPr/>
        <p:txBody>
          <a:bodyPr/>
          <a:lstStyle/>
          <a:p>
            <a:r>
              <a:rPr lang="en-US" dirty="0"/>
              <a:t>One compact rover repair bay</a:t>
            </a:r>
          </a:p>
          <a:p>
            <a:r>
              <a:rPr lang="en-US" dirty="0"/>
              <a:t>Rover, charging rack, tool wall, floor markings</a:t>
            </a:r>
          </a:p>
          <a:p>
            <a:r>
              <a:rPr lang="en-US" dirty="0"/>
              <a:t>A few damaged rover parts placed around the main work area</a:t>
            </a:r>
          </a:p>
          <a:p>
            <a:r>
              <a:rPr lang="en-US" dirty="0"/>
              <a:t>All major objects stay within easy reach of the player</a:t>
            </a:r>
          </a:p>
        </p:txBody>
      </p:sp>
      <p:sp>
        <p:nvSpPr>
          <p:cNvPr id="10" name="Text Placeholder 9">
            <a:extLst>
              <a:ext uri="{FF2B5EF4-FFF2-40B4-BE49-F238E27FC236}">
                <a16:creationId xmlns:a16="http://schemas.microsoft.com/office/drawing/2014/main" id="{BE0D35F0-3656-CC45-187A-94D440FF2C89}"/>
              </a:ext>
            </a:extLst>
          </p:cNvPr>
          <p:cNvSpPr>
            <a:spLocks noGrp="1"/>
          </p:cNvSpPr>
          <p:nvPr>
            <p:ph type="body" sz="quarter" idx="3"/>
          </p:nvPr>
        </p:nvSpPr>
        <p:spPr/>
        <p:txBody>
          <a:bodyPr/>
          <a:lstStyle/>
          <a:p>
            <a:r>
              <a:rPr lang="en-US" dirty="0"/>
              <a:t>Art Direction</a:t>
            </a:r>
          </a:p>
        </p:txBody>
      </p:sp>
      <p:sp>
        <p:nvSpPr>
          <p:cNvPr id="11" name="Content Placeholder 10">
            <a:extLst>
              <a:ext uri="{FF2B5EF4-FFF2-40B4-BE49-F238E27FC236}">
                <a16:creationId xmlns:a16="http://schemas.microsoft.com/office/drawing/2014/main" id="{3CEE97AF-2BFF-CF0B-FAC1-DD8BA4ECCE4A}"/>
              </a:ext>
            </a:extLst>
          </p:cNvPr>
          <p:cNvSpPr>
            <a:spLocks noGrp="1"/>
          </p:cNvSpPr>
          <p:nvPr>
            <p:ph sz="quarter" idx="4"/>
          </p:nvPr>
        </p:nvSpPr>
        <p:spPr/>
        <p:txBody>
          <a:bodyPr/>
          <a:lstStyle/>
          <a:p>
            <a:r>
              <a:rPr lang="en-US" dirty="0">
                <a:effectLst/>
              </a:rPr>
              <a:t>Low-poly industrial look</a:t>
            </a:r>
          </a:p>
          <a:p>
            <a:r>
              <a:rPr lang="en-US" dirty="0">
                <a:effectLst/>
              </a:rPr>
              <a:t>Simple materials and a limited color palette</a:t>
            </a:r>
          </a:p>
          <a:p>
            <a:r>
              <a:rPr lang="en-US" dirty="0">
                <a:effectLst/>
              </a:rPr>
              <a:t>Custom assets: power module and repair tool</a:t>
            </a:r>
          </a:p>
          <a:p>
            <a:r>
              <a:rPr lang="en-US" dirty="0">
                <a:effectLst/>
              </a:rPr>
              <a:t>Color contrast can help show powered, damaged, and repaired states</a:t>
            </a:r>
          </a:p>
          <a:p>
            <a:endParaRPr lang="en-US" dirty="0"/>
          </a:p>
        </p:txBody>
      </p:sp>
      <p:pic>
        <p:nvPicPr>
          <p:cNvPr id="2" name="Picture 1" descr="A small toy vehicle with wheels&#10;&#10;AI-generated content may be incorrect.">
            <a:extLst>
              <a:ext uri="{FF2B5EF4-FFF2-40B4-BE49-F238E27FC236}">
                <a16:creationId xmlns:a16="http://schemas.microsoft.com/office/drawing/2014/main" id="{D284ED3B-F787-7FB3-DF2D-3D4DA63504BE}"/>
              </a:ext>
            </a:extLst>
          </p:cNvPr>
          <p:cNvPicPr>
            <a:picLocks noChangeAspect="1"/>
          </p:cNvPicPr>
          <p:nvPr/>
        </p:nvPicPr>
        <p:blipFill>
          <a:blip r:embed="rId3"/>
          <a:stretch>
            <a:fillRect/>
          </a:stretch>
        </p:blipFill>
        <p:spPr>
          <a:xfrm>
            <a:off x="4533899" y="4779291"/>
            <a:ext cx="3116345" cy="1745727"/>
          </a:xfrm>
          <a:prstGeom prst="rect">
            <a:avLst/>
          </a:prstGeom>
        </p:spPr>
      </p:pic>
    </p:spTree>
    <p:extLst>
      <p:ext uri="{BB962C8B-B14F-4D97-AF65-F5344CB8AC3E}">
        <p14:creationId xmlns:p14="http://schemas.microsoft.com/office/powerpoint/2010/main" val="626169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B7D99-B28B-4CFA-71F8-5130AB8EAB4C}"/>
              </a:ext>
            </a:extLst>
          </p:cNvPr>
          <p:cNvSpPr>
            <a:spLocks noGrp="1"/>
          </p:cNvSpPr>
          <p:nvPr>
            <p:ph type="title"/>
          </p:nvPr>
        </p:nvSpPr>
        <p:spPr>
          <a:xfrm>
            <a:off x="913795" y="609600"/>
            <a:ext cx="4721139" cy="970450"/>
          </a:xfrm>
        </p:spPr>
        <p:txBody>
          <a:bodyPr>
            <a:normAutofit/>
          </a:bodyPr>
          <a:lstStyle/>
          <a:p>
            <a:r>
              <a:rPr lang="en-US"/>
              <a:t>Interaction Loop</a:t>
            </a:r>
            <a:endParaRPr lang="en-US" dirty="0"/>
          </a:p>
        </p:txBody>
      </p:sp>
      <p:sp>
        <p:nvSpPr>
          <p:cNvPr id="3" name="Content Placeholder 2">
            <a:extLst>
              <a:ext uri="{FF2B5EF4-FFF2-40B4-BE49-F238E27FC236}">
                <a16:creationId xmlns:a16="http://schemas.microsoft.com/office/drawing/2014/main" id="{42C77659-FAB3-CD30-AFD2-C74948897740}"/>
              </a:ext>
            </a:extLst>
          </p:cNvPr>
          <p:cNvSpPr>
            <a:spLocks noGrp="1"/>
          </p:cNvSpPr>
          <p:nvPr>
            <p:ph idx="1"/>
          </p:nvPr>
        </p:nvSpPr>
        <p:spPr>
          <a:xfrm>
            <a:off x="913795" y="1732449"/>
            <a:ext cx="4721139" cy="4058751"/>
          </a:xfrm>
        </p:spPr>
        <p:txBody>
          <a:bodyPr anchor="t">
            <a:normAutofit/>
          </a:bodyPr>
          <a:lstStyle/>
          <a:p>
            <a:pPr marL="494030" indent="-457200">
              <a:buFont typeface="+mj-lt"/>
              <a:buAutoNum type="arabicPeriod"/>
            </a:pPr>
            <a:r>
              <a:rPr lang="en-US" sz="1800" dirty="0"/>
              <a:t>Pick up a power module from the rack</a:t>
            </a:r>
            <a:endParaRPr lang="en-US" dirty="0"/>
          </a:p>
          <a:p>
            <a:pPr marL="494030" indent="-457200">
              <a:buFont typeface="+mj-lt"/>
              <a:buAutoNum type="arabicPeriod"/>
            </a:pPr>
            <a:r>
              <a:rPr lang="en-US" sz="1800" dirty="0"/>
              <a:t>Insert it into the rover and power it on</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494030" indent="-457200">
              <a:buFont typeface="+mj-lt"/>
              <a:buAutoNum type="arabicPeriod"/>
            </a:pPr>
            <a:r>
              <a:rPr lang="en-US" sz="1800" dirty="0"/>
              <a:t>Pick up the repair tool and fix damaged rover parts</a:t>
            </a:r>
            <a:endParaRPr lang="en-US" sz="1800"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494030" indent="-457200">
              <a:buFont typeface="+mj-lt"/>
              <a:buAutoNum type="arabicPeriod"/>
            </a:pPr>
            <a:r>
              <a:rPr lang="en-US" sz="1800" dirty="0"/>
              <a:t>The rover lights up and becomes ready to go</a:t>
            </a:r>
          </a:p>
          <a:p>
            <a:pPr marL="494030" indent="-457200">
              <a:buAutoNum type="arabicPeriod"/>
            </a:pPr>
            <a:r>
              <a:rPr lang="en-US" sz="1800" dirty="0">
                <a:ln>
                  <a:solidFill>
                    <a:prstClr val="black">
                      <a:lumMod val="75000"/>
                      <a:lumOff val="25000"/>
                      <a:alpha val="10000"/>
                    </a:prstClr>
                  </a:solidFill>
                </a:ln>
                <a:effectLst>
                  <a:outerShdw blurRad="9525" dist="25400" dir="14640000" algn="tl" rotWithShape="0">
                    <a:prstClr val="black">
                      <a:alpha val="30000"/>
                    </a:prstClr>
                  </a:outerShdw>
                </a:effectLst>
              </a:rPr>
              <a:t>Later repair jobs get harder as the game continues</a:t>
            </a:r>
          </a:p>
        </p:txBody>
      </p:sp>
      <p:sp>
        <p:nvSpPr>
          <p:cNvPr id="14" name="Rectangle 13">
            <a:extLst>
              <a:ext uri="{FF2B5EF4-FFF2-40B4-BE49-F238E27FC236}">
                <a16:creationId xmlns:a16="http://schemas.microsoft.com/office/drawing/2014/main" id="{22F83B2A-BFAC-4761-8F62-E7854959E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7388" y="772696"/>
            <a:ext cx="5042779" cy="4781641"/>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Wrench with solid fill">
            <a:extLst>
              <a:ext uri="{FF2B5EF4-FFF2-40B4-BE49-F238E27FC236}">
                <a16:creationId xmlns:a16="http://schemas.microsoft.com/office/drawing/2014/main" id="{BED67C34-C254-F763-C4C6-8AC96BA15F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73889" y="1191777"/>
            <a:ext cx="2134572" cy="2134572"/>
          </a:xfrm>
          <a:prstGeom prst="rect">
            <a:avLst/>
          </a:prstGeom>
        </p:spPr>
      </p:pic>
      <p:sp>
        <p:nvSpPr>
          <p:cNvPr id="16" name="Rectangle 15">
            <a:extLst>
              <a:ext uri="{FF2B5EF4-FFF2-40B4-BE49-F238E27FC236}">
                <a16:creationId xmlns:a16="http://schemas.microsoft.com/office/drawing/2014/main" id="{73CC8E38-A9FA-440C-97DA-52C0FAABED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0924" y="933561"/>
            <a:ext cx="2469774" cy="2668345"/>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C23F978-A3C1-4CDE-BE70-CA7FCB26FB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38828" y="933561"/>
            <a:ext cx="2070472" cy="19326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46160A17-9918-4325-ACA3-A4F696EF3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1973" y="3760423"/>
            <a:ext cx="2475988" cy="163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Battery charging with solid fill">
            <a:extLst>
              <a:ext uri="{FF2B5EF4-FFF2-40B4-BE49-F238E27FC236}">
                <a16:creationId xmlns:a16="http://schemas.microsoft.com/office/drawing/2014/main" id="{DD589E22-C3CB-D13E-7DA0-E937B21D486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13412" y="3346428"/>
            <a:ext cx="1717756" cy="1717756"/>
          </a:xfrm>
          <a:prstGeom prst="rect">
            <a:avLst/>
          </a:prstGeom>
        </p:spPr>
      </p:pic>
      <p:sp>
        <p:nvSpPr>
          <p:cNvPr id="22" name="Rectangle 21">
            <a:extLst>
              <a:ext uri="{FF2B5EF4-FFF2-40B4-BE49-F238E27FC236}">
                <a16:creationId xmlns:a16="http://schemas.microsoft.com/office/drawing/2014/main" id="{4E54F23A-86D4-4F2F-A29A-DDF4D63CA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2546" y="3022338"/>
            <a:ext cx="2039492" cy="2375834"/>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0574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46F7A-1675-1E6E-73F2-49717D166029}"/>
              </a:ext>
            </a:extLst>
          </p:cNvPr>
          <p:cNvSpPr>
            <a:spLocks noGrp="1"/>
          </p:cNvSpPr>
          <p:nvPr>
            <p:ph type="title"/>
          </p:nvPr>
        </p:nvSpPr>
        <p:spPr/>
        <p:txBody>
          <a:bodyPr/>
          <a:lstStyle/>
          <a:p>
            <a:r>
              <a:rPr lang="en-US" dirty="0"/>
              <a:t>Requirement Fit and Tech Plan</a:t>
            </a:r>
          </a:p>
        </p:txBody>
      </p:sp>
      <p:sp>
        <p:nvSpPr>
          <p:cNvPr id="3" name="Text Placeholder 2">
            <a:extLst>
              <a:ext uri="{FF2B5EF4-FFF2-40B4-BE49-F238E27FC236}">
                <a16:creationId xmlns:a16="http://schemas.microsoft.com/office/drawing/2014/main" id="{2EA0F244-63D5-48A8-6D09-2C6B0B94239E}"/>
              </a:ext>
            </a:extLst>
          </p:cNvPr>
          <p:cNvSpPr>
            <a:spLocks noGrp="1"/>
          </p:cNvSpPr>
          <p:nvPr>
            <p:ph type="body" idx="1"/>
          </p:nvPr>
        </p:nvSpPr>
        <p:spPr/>
        <p:txBody>
          <a:bodyPr/>
          <a:lstStyle/>
          <a:p>
            <a:r>
              <a:rPr lang="en-US" dirty="0"/>
              <a:t>Base Requirements</a:t>
            </a:r>
          </a:p>
        </p:txBody>
      </p:sp>
      <p:sp>
        <p:nvSpPr>
          <p:cNvPr id="4" name="Text Placeholder 3">
            <a:extLst>
              <a:ext uri="{FF2B5EF4-FFF2-40B4-BE49-F238E27FC236}">
                <a16:creationId xmlns:a16="http://schemas.microsoft.com/office/drawing/2014/main" id="{2E0A70A2-8233-BD8F-9CF3-1AFA57FDE011}"/>
              </a:ext>
            </a:extLst>
          </p:cNvPr>
          <p:cNvSpPr>
            <a:spLocks noGrp="1"/>
          </p:cNvSpPr>
          <p:nvPr>
            <p:ph type="body" sz="half" idx="15"/>
          </p:nvPr>
        </p:nvSpPr>
        <p:spPr/>
        <p:txBody>
          <a:bodyPr/>
          <a:lstStyle/>
          <a:p>
            <a:pPr marL="285750" indent="-285750" algn="l">
              <a:buFont typeface="Wingdings 2" panose="05020102010507070707" pitchFamily="18" charset="2"/>
              <a:buChar char=""/>
            </a:pPr>
            <a:r>
              <a:rPr lang="en-US" dirty="0"/>
              <a:t>Original theme: rover repair bay</a:t>
            </a:r>
          </a:p>
          <a:p>
            <a:pPr marL="285750" indent="-285750" algn="l">
              <a:buFont typeface="Wingdings 2" panose="05020102010507070707" pitchFamily="18" charset="2"/>
              <a:buChar char=""/>
            </a:pPr>
            <a:r>
              <a:rPr lang="en-US" dirty="0"/>
              <a:t>Two custom Blender assets: power module and repair tool</a:t>
            </a:r>
          </a:p>
          <a:p>
            <a:pPr marL="285750" indent="-285750" algn="l">
              <a:buFont typeface="Wingdings 2" panose="05020102010507070707" pitchFamily="18" charset="2"/>
              <a:buChar char=""/>
            </a:pPr>
            <a:r>
              <a:rPr lang="en-US" dirty="0"/>
              <a:t>Two meaningful VR interactions: insertion and repair</a:t>
            </a:r>
          </a:p>
        </p:txBody>
      </p:sp>
      <p:sp>
        <p:nvSpPr>
          <p:cNvPr id="5" name="Text Placeholder 4">
            <a:extLst>
              <a:ext uri="{FF2B5EF4-FFF2-40B4-BE49-F238E27FC236}">
                <a16:creationId xmlns:a16="http://schemas.microsoft.com/office/drawing/2014/main" id="{C6F75A4B-A224-0EFD-8DBA-3DA691F2C389}"/>
              </a:ext>
            </a:extLst>
          </p:cNvPr>
          <p:cNvSpPr>
            <a:spLocks noGrp="1"/>
          </p:cNvSpPr>
          <p:nvPr>
            <p:ph type="body" sz="quarter" idx="3"/>
          </p:nvPr>
        </p:nvSpPr>
        <p:spPr/>
        <p:txBody>
          <a:bodyPr/>
          <a:lstStyle/>
          <a:p>
            <a:r>
              <a:rPr lang="en-US" dirty="0"/>
              <a:t>Advanced Features</a:t>
            </a:r>
          </a:p>
        </p:txBody>
      </p:sp>
      <p:sp>
        <p:nvSpPr>
          <p:cNvPr id="6" name="Text Placeholder 5">
            <a:extLst>
              <a:ext uri="{FF2B5EF4-FFF2-40B4-BE49-F238E27FC236}">
                <a16:creationId xmlns:a16="http://schemas.microsoft.com/office/drawing/2014/main" id="{C439F56C-6BC9-CA46-090C-429378981759}"/>
              </a:ext>
            </a:extLst>
          </p:cNvPr>
          <p:cNvSpPr>
            <a:spLocks noGrp="1"/>
          </p:cNvSpPr>
          <p:nvPr>
            <p:ph type="body" sz="half" idx="16"/>
          </p:nvPr>
        </p:nvSpPr>
        <p:spPr/>
        <p:txBody>
          <a:bodyPr/>
          <a:lstStyle/>
          <a:p>
            <a:pPr marL="285750" indent="-285750" algn="l">
              <a:buFont typeface="Wingdings 2" panose="05020102010507070707" pitchFamily="18" charset="2"/>
              <a:buChar char="±"/>
            </a:pPr>
            <a:r>
              <a:rPr lang="en-US" dirty="0"/>
              <a:t>Physics</a:t>
            </a:r>
          </a:p>
          <a:p>
            <a:pPr marL="285750" indent="-285750" algn="l">
              <a:buFont typeface="Wingdings 2" panose="05020102010507070707" pitchFamily="18" charset="2"/>
              <a:buChar char="±"/>
            </a:pPr>
            <a:r>
              <a:rPr lang="en-US" dirty="0"/>
              <a:t>Multiple object types/tools</a:t>
            </a:r>
          </a:p>
        </p:txBody>
      </p:sp>
      <p:sp>
        <p:nvSpPr>
          <p:cNvPr id="7" name="Text Placeholder 6">
            <a:extLst>
              <a:ext uri="{FF2B5EF4-FFF2-40B4-BE49-F238E27FC236}">
                <a16:creationId xmlns:a16="http://schemas.microsoft.com/office/drawing/2014/main" id="{7BB26C70-171C-A2D1-4F19-439A46B617CE}"/>
              </a:ext>
            </a:extLst>
          </p:cNvPr>
          <p:cNvSpPr>
            <a:spLocks noGrp="1"/>
          </p:cNvSpPr>
          <p:nvPr>
            <p:ph type="body" sz="quarter" idx="13"/>
          </p:nvPr>
        </p:nvSpPr>
        <p:spPr/>
        <p:txBody>
          <a:bodyPr/>
          <a:lstStyle/>
          <a:p>
            <a:r>
              <a:rPr lang="en-US" dirty="0"/>
              <a:t>Tools</a:t>
            </a:r>
          </a:p>
        </p:txBody>
      </p:sp>
      <p:sp>
        <p:nvSpPr>
          <p:cNvPr id="8" name="Text Placeholder 7">
            <a:extLst>
              <a:ext uri="{FF2B5EF4-FFF2-40B4-BE49-F238E27FC236}">
                <a16:creationId xmlns:a16="http://schemas.microsoft.com/office/drawing/2014/main" id="{7489B970-40E1-2E8B-A14D-BD56237CC06E}"/>
              </a:ext>
            </a:extLst>
          </p:cNvPr>
          <p:cNvSpPr>
            <a:spLocks noGrp="1"/>
          </p:cNvSpPr>
          <p:nvPr>
            <p:ph type="body" sz="half" idx="17"/>
          </p:nvPr>
        </p:nvSpPr>
        <p:spPr/>
        <p:txBody>
          <a:bodyPr/>
          <a:lstStyle/>
          <a:p>
            <a:pPr marL="285750" indent="-285750" algn="l">
              <a:buFont typeface="Wingdings 2" panose="05020102010507070707" pitchFamily="18" charset="2"/>
              <a:buChar char="±"/>
            </a:pPr>
            <a:r>
              <a:rPr lang="en-US" dirty="0"/>
              <a:t>Blender, Three.js + </a:t>
            </a:r>
            <a:r>
              <a:rPr lang="en-US" dirty="0" err="1"/>
              <a:t>WebXR</a:t>
            </a:r>
            <a:r>
              <a:rPr lang="en-US" dirty="0"/>
              <a:t>, </a:t>
            </a:r>
            <a:r>
              <a:rPr lang="en-US" dirty="0" err="1"/>
              <a:t>GLTFLoader</a:t>
            </a:r>
            <a:r>
              <a:rPr lang="en-US" dirty="0"/>
              <a:t>, Cannon-ES</a:t>
            </a:r>
          </a:p>
          <a:p>
            <a:pPr marL="285750" indent="-285750" algn="l">
              <a:buFont typeface="Wingdings 2" panose="05020102010507070707" pitchFamily="18" charset="2"/>
              <a:buChar char="±"/>
            </a:pPr>
            <a:r>
              <a:rPr lang="en-US" dirty="0"/>
              <a:t>Backup option: procedural environment assets if needed</a:t>
            </a:r>
          </a:p>
        </p:txBody>
      </p:sp>
    </p:spTree>
    <p:extLst>
      <p:ext uri="{BB962C8B-B14F-4D97-AF65-F5344CB8AC3E}">
        <p14:creationId xmlns:p14="http://schemas.microsoft.com/office/powerpoint/2010/main" val="762132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7C01F-1434-FFC4-B133-A1BB25F8DCAC}"/>
              </a:ext>
            </a:extLst>
          </p:cNvPr>
          <p:cNvSpPr>
            <a:spLocks noGrp="1"/>
          </p:cNvSpPr>
          <p:nvPr>
            <p:ph type="title"/>
          </p:nvPr>
        </p:nvSpPr>
        <p:spPr/>
        <p:txBody>
          <a:bodyPr/>
          <a:lstStyle/>
          <a:p>
            <a:r>
              <a:rPr lang="en-US" dirty="0"/>
              <a:t>Plan, Roles, and Timeline</a:t>
            </a:r>
          </a:p>
        </p:txBody>
      </p:sp>
      <p:sp>
        <p:nvSpPr>
          <p:cNvPr id="3" name="Text Placeholder 2">
            <a:extLst>
              <a:ext uri="{FF2B5EF4-FFF2-40B4-BE49-F238E27FC236}">
                <a16:creationId xmlns:a16="http://schemas.microsoft.com/office/drawing/2014/main" id="{2BF5F624-ECAF-4698-7123-81111F0205E6}"/>
              </a:ext>
            </a:extLst>
          </p:cNvPr>
          <p:cNvSpPr>
            <a:spLocks noGrp="1"/>
          </p:cNvSpPr>
          <p:nvPr>
            <p:ph type="body" idx="1"/>
          </p:nvPr>
        </p:nvSpPr>
        <p:spPr/>
        <p:txBody>
          <a:bodyPr/>
          <a:lstStyle/>
          <a:p>
            <a:r>
              <a:rPr lang="en-US" dirty="0"/>
              <a:t>Main Components</a:t>
            </a:r>
          </a:p>
        </p:txBody>
      </p:sp>
      <p:sp>
        <p:nvSpPr>
          <p:cNvPr id="4" name="Text Placeholder 3">
            <a:extLst>
              <a:ext uri="{FF2B5EF4-FFF2-40B4-BE49-F238E27FC236}">
                <a16:creationId xmlns:a16="http://schemas.microsoft.com/office/drawing/2014/main" id="{B4BA0936-0813-F04F-62E1-ECB6217209FD}"/>
              </a:ext>
            </a:extLst>
          </p:cNvPr>
          <p:cNvSpPr>
            <a:spLocks noGrp="1"/>
          </p:cNvSpPr>
          <p:nvPr>
            <p:ph type="body" sz="half" idx="15"/>
          </p:nvPr>
        </p:nvSpPr>
        <p:spPr/>
        <p:txBody>
          <a:bodyPr/>
          <a:lstStyle/>
          <a:p>
            <a:pPr marL="285750" indent="-285750" algn="l">
              <a:buFont typeface="Wingdings 2" panose="05020102010507070707" pitchFamily="18" charset="2"/>
              <a:buChar char="±"/>
            </a:pPr>
            <a:r>
              <a:rPr lang="en-US" dirty="0"/>
              <a:t>Blender modeling and export</a:t>
            </a:r>
          </a:p>
          <a:p>
            <a:pPr marL="285750" indent="-285750" algn="l">
              <a:buFont typeface="Wingdings 2" panose="05020102010507070707" pitchFamily="18" charset="2"/>
              <a:buChar char="±"/>
            </a:pPr>
            <a:r>
              <a:rPr lang="en-US" dirty="0" err="1"/>
              <a:t>WebXR</a:t>
            </a:r>
            <a:r>
              <a:rPr lang="en-US" dirty="0"/>
              <a:t> interaction logic for grabbing, insertion, and repair</a:t>
            </a:r>
          </a:p>
          <a:p>
            <a:pPr marL="285750" indent="-285750" algn="l">
              <a:buFont typeface="Wingdings 2" panose="05020102010507070707" pitchFamily="18" charset="2"/>
              <a:buChar char="±"/>
            </a:pPr>
            <a:r>
              <a:rPr lang="en-US" dirty="0"/>
              <a:t>Rover feedback, physics, and testing</a:t>
            </a:r>
          </a:p>
        </p:txBody>
      </p:sp>
      <p:sp>
        <p:nvSpPr>
          <p:cNvPr id="5" name="Text Placeholder 4">
            <a:extLst>
              <a:ext uri="{FF2B5EF4-FFF2-40B4-BE49-F238E27FC236}">
                <a16:creationId xmlns:a16="http://schemas.microsoft.com/office/drawing/2014/main" id="{00994937-E347-AFF6-C42E-39444FD0D1F8}"/>
              </a:ext>
            </a:extLst>
          </p:cNvPr>
          <p:cNvSpPr>
            <a:spLocks noGrp="1"/>
          </p:cNvSpPr>
          <p:nvPr>
            <p:ph type="body" sz="quarter" idx="3"/>
          </p:nvPr>
        </p:nvSpPr>
        <p:spPr/>
        <p:txBody>
          <a:bodyPr/>
          <a:lstStyle/>
          <a:p>
            <a:r>
              <a:rPr lang="en-US" dirty="0"/>
              <a:t>Team Roles</a:t>
            </a:r>
          </a:p>
        </p:txBody>
      </p:sp>
      <p:sp>
        <p:nvSpPr>
          <p:cNvPr id="6" name="Text Placeholder 5">
            <a:extLst>
              <a:ext uri="{FF2B5EF4-FFF2-40B4-BE49-F238E27FC236}">
                <a16:creationId xmlns:a16="http://schemas.microsoft.com/office/drawing/2014/main" id="{8E31FEAF-61CA-F042-F4B6-BFF2328F1D13}"/>
              </a:ext>
            </a:extLst>
          </p:cNvPr>
          <p:cNvSpPr>
            <a:spLocks noGrp="1"/>
          </p:cNvSpPr>
          <p:nvPr>
            <p:ph type="body" sz="half" idx="16"/>
          </p:nvPr>
        </p:nvSpPr>
        <p:spPr/>
        <p:txBody>
          <a:bodyPr/>
          <a:lstStyle/>
          <a:p>
            <a:pPr marL="285750" indent="-285750" algn="l">
              <a:buFont typeface="Wingdings 2" panose="05020102010507070707" pitchFamily="18" charset="2"/>
              <a:buChar char="±"/>
            </a:pPr>
            <a:r>
              <a:rPr lang="en-US" dirty="0"/>
              <a:t>Chirag: Bay layout, custom models, exports, and slide prep</a:t>
            </a:r>
          </a:p>
          <a:p>
            <a:pPr marL="285750" indent="-285750" algn="l">
              <a:buFont typeface="Wingdings 2" panose="05020102010507070707" pitchFamily="18" charset="2"/>
              <a:buChar char="±"/>
            </a:pPr>
            <a:r>
              <a:rPr lang="en-US" dirty="0"/>
              <a:t>Dhrumil: </a:t>
            </a:r>
            <a:r>
              <a:rPr lang="en-US" dirty="0" err="1"/>
              <a:t>WebXR</a:t>
            </a:r>
            <a:r>
              <a:rPr lang="en-US" dirty="0"/>
              <a:t> scene setup, grabbing, insertion, repair logic, and physics</a:t>
            </a:r>
          </a:p>
        </p:txBody>
      </p:sp>
      <p:sp>
        <p:nvSpPr>
          <p:cNvPr id="7" name="Text Placeholder 6">
            <a:extLst>
              <a:ext uri="{FF2B5EF4-FFF2-40B4-BE49-F238E27FC236}">
                <a16:creationId xmlns:a16="http://schemas.microsoft.com/office/drawing/2014/main" id="{7C1EED0C-AC01-F273-4191-5958F718E28F}"/>
              </a:ext>
            </a:extLst>
          </p:cNvPr>
          <p:cNvSpPr>
            <a:spLocks noGrp="1"/>
          </p:cNvSpPr>
          <p:nvPr>
            <p:ph type="body" sz="quarter" idx="13"/>
          </p:nvPr>
        </p:nvSpPr>
        <p:spPr/>
        <p:txBody>
          <a:bodyPr/>
          <a:lstStyle/>
          <a:p>
            <a:r>
              <a:rPr lang="en-US" dirty="0"/>
              <a:t>Timeline</a:t>
            </a:r>
          </a:p>
        </p:txBody>
      </p:sp>
      <p:sp>
        <p:nvSpPr>
          <p:cNvPr id="8" name="Text Placeholder 7">
            <a:extLst>
              <a:ext uri="{FF2B5EF4-FFF2-40B4-BE49-F238E27FC236}">
                <a16:creationId xmlns:a16="http://schemas.microsoft.com/office/drawing/2014/main" id="{07A0BA54-98E2-3452-B54E-10309CA86328}"/>
              </a:ext>
            </a:extLst>
          </p:cNvPr>
          <p:cNvSpPr>
            <a:spLocks noGrp="1"/>
          </p:cNvSpPr>
          <p:nvPr>
            <p:ph type="body" sz="half" idx="17"/>
          </p:nvPr>
        </p:nvSpPr>
        <p:spPr/>
        <p:txBody>
          <a:bodyPr/>
          <a:lstStyle/>
          <a:p>
            <a:pPr marL="285750" indent="-285750" algn="l">
              <a:buFont typeface="Wingdings 2" panose="05020102010507070707" pitchFamily="18" charset="2"/>
              <a:buChar char="±"/>
            </a:pPr>
            <a:r>
              <a:rPr lang="en-US" dirty="0"/>
              <a:t>By April 20: Lock the layout, finish the first custom asset, and get the main interaction loop working</a:t>
            </a:r>
          </a:p>
          <a:p>
            <a:pPr marL="285750" indent="-285750" algn="l">
              <a:buFont typeface="Wingdings 2" panose="05020102010507070707" pitchFamily="18" charset="2"/>
              <a:buChar char="±"/>
            </a:pPr>
            <a:r>
              <a:rPr lang="en-US" dirty="0"/>
              <a:t>Before the final presentation: Complete both interactions, improve feedback, test in the emulator, and clean up the experience</a:t>
            </a:r>
          </a:p>
        </p:txBody>
      </p:sp>
    </p:spTree>
    <p:extLst>
      <p:ext uri="{BB962C8B-B14F-4D97-AF65-F5344CB8AC3E}">
        <p14:creationId xmlns:p14="http://schemas.microsoft.com/office/powerpoint/2010/main" val="40932798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fd5ed70-1cee-4514-8fc8-753d55a1914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7CEE703BF4E904B95487C5D73C01106" ma:contentTypeVersion="9" ma:contentTypeDescription="Create a new document." ma:contentTypeScope="" ma:versionID="b1ab7c631fb5ce09e7d2c747df9c9235">
  <xsd:schema xmlns:xsd="http://www.w3.org/2001/XMLSchema" xmlns:xs="http://www.w3.org/2001/XMLSchema" xmlns:p="http://schemas.microsoft.com/office/2006/metadata/properties" xmlns:ns3="9fd5ed70-1cee-4514-8fc8-753d55a1914a" xmlns:ns4="b9b31882-ea58-45ce-aeb3-d8d1a4acb50a" targetNamespace="http://schemas.microsoft.com/office/2006/metadata/properties" ma:root="true" ma:fieldsID="1628f6d4f9d8688e0f80bdb5ddc6c4b4" ns3:_="" ns4:_="">
    <xsd:import namespace="9fd5ed70-1cee-4514-8fc8-753d55a1914a"/>
    <xsd:import namespace="b9b31882-ea58-45ce-aeb3-d8d1a4acb50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5ed70-1cee-4514-8fc8-753d55a191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b31882-ea58-45ce-aeb3-d8d1a4acb50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2B33EC-28C7-4B97-8298-845A2F855476}">
  <ds:schemaRefs>
    <ds:schemaRef ds:uri="http://schemas.microsoft.com/sharepoint/v3/contenttype/forms"/>
  </ds:schemaRefs>
</ds:datastoreItem>
</file>

<file path=customXml/itemProps2.xml><?xml version="1.0" encoding="utf-8"?>
<ds:datastoreItem xmlns:ds="http://schemas.openxmlformats.org/officeDocument/2006/customXml" ds:itemID="{0F2916D5-BCA7-42CC-8BDB-D82933C49EEA}">
  <ds:schemaRefs>
    <ds:schemaRef ds:uri="http://schemas.microsoft.com/office/infopath/2007/PartnerControls"/>
    <ds:schemaRef ds:uri="http://purl.org/dc/dcmitype/"/>
    <ds:schemaRef ds:uri="http://schemas.microsoft.com/office/2006/metadata/properties"/>
    <ds:schemaRef ds:uri="http://schemas.microsoft.com/office/2006/documentManagement/types"/>
    <ds:schemaRef ds:uri="b9b31882-ea58-45ce-aeb3-d8d1a4acb50a"/>
    <ds:schemaRef ds:uri="http://www.w3.org/XML/1998/namespace"/>
    <ds:schemaRef ds:uri="http://purl.org/dc/terms/"/>
    <ds:schemaRef ds:uri="9fd5ed70-1cee-4514-8fc8-753d55a1914a"/>
    <ds:schemaRef ds:uri="http://purl.org/dc/elements/1.1/"/>
    <ds:schemaRef ds:uri="http://schemas.openxmlformats.org/package/2006/metadata/core-properties"/>
  </ds:schemaRefs>
</ds:datastoreItem>
</file>

<file path=customXml/itemProps3.xml><?xml version="1.0" encoding="utf-8"?>
<ds:datastoreItem xmlns:ds="http://schemas.openxmlformats.org/officeDocument/2006/customXml" ds:itemID="{A9402A89-5713-4FD7-B50E-9DCE7B1239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5ed70-1cee-4514-8fc8-753d55a1914a"/>
    <ds:schemaRef ds:uri="b9b31882-ea58-45ce-aeb3-d8d1a4acb5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TM04033929[[fn=Slate]]</Template>
  <TotalTime>358</TotalTime>
  <Words>769</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Calisto MT</vt:lpstr>
      <vt:lpstr>Wingdings 2</vt:lpstr>
      <vt:lpstr>Aptos</vt:lpstr>
      <vt:lpstr>Slate</vt:lpstr>
      <vt:lpstr>Rover Ready</vt:lpstr>
      <vt:lpstr>Introduction</vt:lpstr>
      <vt:lpstr>Why This Works in VR</vt:lpstr>
      <vt:lpstr>Scene and Art Direction</vt:lpstr>
      <vt:lpstr>Interaction Loop</vt:lpstr>
      <vt:lpstr>Requirement Fit and Tech Plan</vt:lpstr>
      <vt:lpstr>Plan, Roles, and 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Chirag Baviskar</dc:creator>
  <cp:lastModifiedBy>Chirag Baviskar</cp:lastModifiedBy>
  <cp:revision>2</cp:revision>
  <dcterms:created xsi:type="dcterms:W3CDTF">2026-04-14T19:38:29Z</dcterms:created>
  <dcterms:modified xsi:type="dcterms:W3CDTF">2026-04-15T18:53:38Z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0x01010057CEE703BF4E904B95487C5D73C01106</vt:lpwstr>
  </property>
</Properties>
</file>